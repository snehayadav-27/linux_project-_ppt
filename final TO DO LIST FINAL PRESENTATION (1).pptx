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2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4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457064C-BC9A-4A71-A2BF-61A268DC16C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Welcome. This mini project is a Student Marks &amp; Grade Calculator written entirely in Bash and run from the Linux terminal on Ubuntu / WSL. Team of two students, academic year 2026–2027.</a:t>
            </a:r>
          </a:p>
        </p:txBody>
      </p:sp>
      <p:sp>
        <p:nvSpPr>
          <p:cNvPr id="39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B3B1F7-4F42-4068-9E6F-EDD5FA055A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Marks are normally added with a calculator or spreadsheet, then the average and grade are worked out separately. A simple command-line tool should do it all in one run.</a:t>
            </a:r>
          </a:p>
        </p:txBody>
      </p:sp>
      <p:sp>
        <p:nvSpPr>
          <p:cNvPr id="39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5BA12C-B33F-4784-B947-8B2D5CAEF5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 learning goals: terminal and Bash basics, variables and input, arithmetic, decision making, functions, and file creation, permissions and execution. The end result is a small working project that can be demonstrated live.</a:t>
            </a:r>
          </a:p>
        </p:txBody>
      </p:sp>
      <p:sp>
        <p:nvSpPr>
          <p:cNvPr id="39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3FEAE1-1C97-4A13-9FD9-409A7EB513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project is for academic demonstration and beginner-level Linux learning. It handles one student record and five subjects at a time. No database and no graphical interface are needed — just Ubuntu or WSL, Bash and a text editor.</a:t>
            </a:r>
          </a:p>
        </p:txBody>
      </p:sp>
      <p:sp>
        <p:nvSpPr>
          <p:cNvPr id="40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4D0D49-6879-4DF4-95DE-68A80BAC94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Compare the two approaches. The manual route is slow and error-prone and shows nothing about Linux. The proposed Bash script does the whole job in a single run from the terminal.</a:t>
            </a:r>
          </a:p>
        </p:txBody>
      </p:sp>
      <p:sp>
        <p:nvSpPr>
          <p:cNvPr id="40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53E1B5-B1B6-40A1-A396-6F55D273DA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the eight steps: start, read the name, read five marks with validation, compute total and average, check that every mark is at least 40, assign a grade from the average, and display the final result.</a:t>
            </a:r>
          </a:p>
        </p:txBody>
      </p:sp>
      <p:sp>
        <p:nvSpPr>
          <p:cNvPr id="40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1605AB-7878-43E1-A636-A22E6DD9A2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Inputs are the student name and five marks. Processing adds the marks, divides by five, checks each mark against the pass mark of 40 and chooses a grade from the average. Outputs are name, total, average, pass/fail status and grade.</a:t>
            </a:r>
          </a:p>
        </p:txBody>
      </p:sp>
      <p:sp>
        <p:nvSpPr>
          <p:cNvPr id="40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7D2E67-B1D4-465C-A38F-26AEFFDCF0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grade bands run from A+ for an average of 90 or more down to F. One important rule from the code: if any single subject is below 40, the result is FAIL and the grade is F, no matter how high the average is.</a:t>
            </a:r>
          </a:p>
        </p:txBody>
      </p:sp>
      <p:sp>
        <p:nvSpPr>
          <p:cNvPr id="412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5487A6-871C-4F17-AB01-76C5BAEBE5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 terminal steps: make a project directory, create the script with nano, give it execute permission with chmod +x, and run it with ./marks_calculator.sh.</a:t>
            </a:r>
          </a:p>
        </p:txBody>
      </p:sp>
      <p:sp>
        <p:nvSpPr>
          <p:cNvPr id="415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915A33-307C-45A6-BD08-6AE22316C5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Condensed excerpts of marks_calculator.sh. Left: the read_mark function loops until the input is a number from 0 to 100 and prints an error to stderr otherwise. Right: total and average use $(( )); any mark below 40 forces FAIL and grade F, otherwise an if-elif chain picks the grade from the average. The full script is in the project report.</a:t>
            </a:r>
          </a:p>
        </p:txBody>
      </p:sp>
      <p:sp>
        <p:nvSpPr>
          <p:cNvPr id="418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0F9692-6297-4B20-ADE4-C1AB92F667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52D540-8903-426F-9685-77FD0B811E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827E55-A22F-4151-AE4F-5CBFC68AE3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Introduce each team member and their contribution. Replace “Student 1” and “Student 2” with the actual names.</a:t>
            </a:r>
          </a:p>
        </p:txBody>
      </p:sp>
      <p:sp>
        <p:nvSpPr>
          <p:cNvPr id="427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E467ED-4E23-4EE2-A067-F5FC907EF3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Strengths: simple, terminal-based, no extra software, easy to extend. Limitations: one student at a time, no permanent storage, integer averages and no GUI — which leads into the future enhancements.</a:t>
            </a:r>
          </a:p>
        </p:txBody>
      </p:sp>
      <p:sp>
        <p:nvSpPr>
          <p:cNvPr id="430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4D9976-2FBB-4FC6-B353-7431C31D3F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Next steps: store records in a CSV file, support many students with roll number and course details, add a menu with Add, Search, Update and Delete, and generate reports automatically, optionally scheduled with cron.</a:t>
            </a:r>
          </a:p>
        </p:txBody>
      </p:sp>
      <p:sp>
        <p:nvSpPr>
          <p:cNvPr id="433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8D028C-BFFA-42D6-B87D-DD3D8ACA76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Summarise: the project combines basic Linux commands with core scripting ideas and gives a base for bigger Linux projects. Thank the audience and invite questions.</a:t>
            </a:r>
          </a:p>
        </p:txBody>
      </p:sp>
      <p:sp>
        <p:nvSpPr>
          <p:cNvPr id="436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FA06F9-1021-43AA-AFFE-CC19128848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48640" y="1645920"/>
            <a:ext cx="4845960" cy="1188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en-US" sz="3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48640" y="2971800"/>
            <a:ext cx="4845960" cy="456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sldNum" idx="1"/>
          </p:nvPr>
        </p:nvSpPr>
        <p:spPr>
          <a:xfrm>
            <a:off x="822960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8BF06BA-4196-4F22-84F3-8E3F1C227ED7}" type="slidenum">
              <a: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sldNum" idx="2"/>
          </p:nvPr>
        </p:nvSpPr>
        <p:spPr>
          <a:xfrm>
            <a:off x="822960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AFDE916-33B8-4EEA-9A6B-ECC70348CD93}" type="slidenum">
              <a:rPr lang="en-US" sz="10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6549390" y="329184"/>
            <a:ext cx="2125980" cy="329184"/>
          </a:xfrm>
          <a:prstGeom prst="roundRect">
            <a:avLst/>
          </a:prstGeom>
          <a:solidFill>
            <a:srgbClr val="F7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6617970" y="361048"/>
            <a:ext cx="1988820" cy="265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5" b="1">
                <a:solidFill>
                  <a:srgbClr val="B73016"/>
                </a:solidFill>
                <a:latin typeface="Aptos"/>
              </a:rPr>
              <a:t>Dept. of CSA – BCA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49390" y="740664"/>
            <a:ext cx="2125980" cy="329184"/>
          </a:xfrm>
          <a:prstGeom prst="roundRect">
            <a:avLst/>
          </a:prstGeom>
          <a:solidFill>
            <a:srgbClr val="F7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6617970" y="772528"/>
            <a:ext cx="1988820" cy="265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5" b="1">
                <a:solidFill>
                  <a:srgbClr val="B73016"/>
                </a:solidFill>
                <a:latin typeface="Aptos"/>
              </a:rPr>
              <a:t>I Year – I Semester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770" y="1317989"/>
            <a:ext cx="8229600" cy="4501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25" b="1">
                <a:solidFill>
                  <a:srgbClr val="141414"/>
                </a:solidFill>
                <a:latin typeface="Georgia"/>
              </a:rPr>
              <a:t>TO-DO LIST MANAGEMENT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" y="1954530"/>
            <a:ext cx="4732020" cy="356616"/>
          </a:xfrm>
          <a:prstGeom prst="roundRect">
            <a:avLst/>
          </a:prstGeom>
          <a:solidFill>
            <a:srgbClr val="B73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582930" y="1988568"/>
            <a:ext cx="4560570" cy="2885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75" b="1" dirty="0">
                <a:solidFill>
                  <a:srgbClr val="FFFFFF"/>
                </a:solidFill>
                <a:latin typeface="Aptos"/>
              </a:rPr>
              <a:t>Team Name: [</a:t>
            </a:r>
            <a:r>
              <a:rPr lang="en-US" sz="1275" b="1" dirty="0">
                <a:solidFill>
                  <a:srgbClr val="FFFFFF"/>
                </a:solidFill>
                <a:latin typeface="Aptos"/>
              </a:rPr>
              <a:t>SHELLDUO]</a:t>
            </a:r>
            <a:endParaRPr sz="1275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93776" y="2503170"/>
            <a:ext cx="3963924" cy="768096"/>
          </a:xfrm>
          <a:prstGeom prst="round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Oval 11"/>
          <p:cNvSpPr/>
          <p:nvPr/>
        </p:nvSpPr>
        <p:spPr>
          <a:xfrm>
            <a:off x="644652" y="2667761"/>
            <a:ext cx="425196" cy="425196"/>
          </a:xfrm>
          <a:prstGeom prst="ellipse">
            <a:avLst/>
          </a:prstGeom>
          <a:solidFill>
            <a:srgbClr val="B73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644652" y="2666839"/>
            <a:ext cx="425196" cy="427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75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3866" y="2557783"/>
            <a:ext cx="3051810" cy="2885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75" b="1" dirty="0">
                <a:solidFill>
                  <a:srgbClr val="141414"/>
                </a:solidFill>
                <a:latin typeface="Aptos"/>
              </a:rPr>
              <a:t>MEMBER 1: [</a:t>
            </a:r>
            <a:r>
              <a:rPr lang="en-US" sz="1275" b="1" dirty="0">
                <a:solidFill>
                  <a:srgbClr val="141414"/>
                </a:solidFill>
                <a:latin typeface="Aptos"/>
              </a:rPr>
              <a:t>SNEHA YADAV</a:t>
            </a:r>
            <a:r>
              <a:rPr sz="1275" b="1" dirty="0">
                <a:solidFill>
                  <a:srgbClr val="141414"/>
                </a:solidFill>
                <a:latin typeface="Aptos"/>
              </a:rPr>
              <a:t>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3867" y="2838457"/>
            <a:ext cx="234576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dirty="0">
                <a:solidFill>
                  <a:srgbClr val="69625C"/>
                </a:solidFill>
                <a:latin typeface="Aptos"/>
              </a:rPr>
              <a:t>Roll No.: [</a:t>
            </a:r>
            <a:r>
              <a:rPr lang="en-US" sz="1200" dirty="0">
                <a:solidFill>
                  <a:srgbClr val="69625C"/>
                </a:solidFill>
                <a:latin typeface="Aptos"/>
              </a:rPr>
              <a:t>2610520032</a:t>
            </a:r>
            <a:r>
              <a:rPr sz="1200" dirty="0">
                <a:solidFill>
                  <a:srgbClr val="69625C"/>
                </a:solidFill>
                <a:latin typeface="Aptos"/>
              </a:rPr>
              <a:t>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77156" y="2503170"/>
            <a:ext cx="3963924" cy="768096"/>
          </a:xfrm>
          <a:prstGeom prst="round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Oval 16"/>
          <p:cNvSpPr/>
          <p:nvPr/>
        </p:nvSpPr>
        <p:spPr>
          <a:xfrm>
            <a:off x="4828032" y="2667761"/>
            <a:ext cx="425196" cy="425196"/>
          </a:xfrm>
          <a:prstGeom prst="ellipse">
            <a:avLst/>
          </a:prstGeom>
          <a:solidFill>
            <a:srgbClr val="B73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TextBox 17"/>
          <p:cNvSpPr txBox="1"/>
          <p:nvPr/>
        </p:nvSpPr>
        <p:spPr>
          <a:xfrm>
            <a:off x="4828032" y="2666839"/>
            <a:ext cx="425196" cy="427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75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7246" y="2557783"/>
            <a:ext cx="3051810" cy="2885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75" b="1" dirty="0">
                <a:solidFill>
                  <a:srgbClr val="141414"/>
                </a:solidFill>
                <a:latin typeface="Aptos"/>
              </a:rPr>
              <a:t>MEMBER 2: [</a:t>
            </a:r>
            <a:r>
              <a:rPr lang="en-US" sz="1275" b="1" dirty="0">
                <a:solidFill>
                  <a:srgbClr val="141414"/>
                </a:solidFill>
                <a:latin typeface="Aptos"/>
              </a:rPr>
              <a:t>KHUSH VYAS]</a:t>
            </a:r>
            <a:endParaRPr sz="1275" b="1" dirty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23560" y="2758724"/>
            <a:ext cx="305181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dirty="0">
                <a:solidFill>
                  <a:srgbClr val="69625C"/>
                </a:solidFill>
                <a:latin typeface="Aptos"/>
              </a:rPr>
              <a:t>Roll No.: [</a:t>
            </a:r>
            <a:r>
              <a:rPr lang="en-US" sz="1200" dirty="0">
                <a:solidFill>
                  <a:srgbClr val="69625C"/>
                </a:solidFill>
                <a:latin typeface="Aptos"/>
              </a:rPr>
              <a:t>2610520010</a:t>
            </a:r>
            <a:r>
              <a:rPr sz="1200" dirty="0">
                <a:solidFill>
                  <a:srgbClr val="69625C"/>
                </a:solidFill>
                <a:latin typeface="Aptos"/>
              </a:rPr>
              <a:t>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" y="3463290"/>
            <a:ext cx="3963924" cy="768096"/>
          </a:xfrm>
          <a:prstGeom prst="round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" name="Oval 21"/>
          <p:cNvSpPr/>
          <p:nvPr/>
        </p:nvSpPr>
        <p:spPr>
          <a:xfrm>
            <a:off x="644652" y="3627882"/>
            <a:ext cx="425196" cy="425196"/>
          </a:xfrm>
          <a:prstGeom prst="ellipse">
            <a:avLst/>
          </a:prstGeom>
          <a:solidFill>
            <a:srgbClr val="B73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TextBox 22"/>
          <p:cNvSpPr txBox="1"/>
          <p:nvPr/>
        </p:nvSpPr>
        <p:spPr>
          <a:xfrm>
            <a:off x="644652" y="3626960"/>
            <a:ext cx="425196" cy="427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75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3866" y="3517903"/>
            <a:ext cx="3051810" cy="2885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75" b="1" dirty="0">
                <a:solidFill>
                  <a:srgbClr val="141414"/>
                </a:solidFill>
                <a:latin typeface="Aptos"/>
              </a:rPr>
              <a:t>MEMBER 3: [</a:t>
            </a:r>
            <a:r>
              <a:rPr lang="en-US" sz="1275" b="1" dirty="0">
                <a:solidFill>
                  <a:srgbClr val="141414"/>
                </a:solidFill>
                <a:latin typeface="Aptos"/>
              </a:rPr>
              <a:t>KISHA YADAV</a:t>
            </a:r>
            <a:r>
              <a:rPr sz="1275" b="1" dirty="0">
                <a:solidFill>
                  <a:srgbClr val="141414"/>
                </a:solidFill>
                <a:latin typeface="Aptos"/>
              </a:rPr>
              <a:t>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0195" y="3809535"/>
            <a:ext cx="305181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dirty="0">
                <a:solidFill>
                  <a:srgbClr val="69625C"/>
                </a:solidFill>
                <a:latin typeface="Aptos"/>
              </a:rPr>
              <a:t>Roll No.: [</a:t>
            </a:r>
            <a:r>
              <a:rPr lang="en-US" sz="1050" dirty="0">
                <a:solidFill>
                  <a:srgbClr val="69625C"/>
                </a:solidFill>
                <a:latin typeface="Aptos"/>
              </a:rPr>
              <a:t>2610520043</a:t>
            </a:r>
            <a:r>
              <a:rPr sz="1050" dirty="0">
                <a:solidFill>
                  <a:srgbClr val="69625C"/>
                </a:solidFill>
                <a:latin typeface="Aptos"/>
              </a:rPr>
              <a:t>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77156" y="3463290"/>
            <a:ext cx="3963924" cy="768096"/>
          </a:xfrm>
          <a:prstGeom prst="round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" name="Oval 26"/>
          <p:cNvSpPr/>
          <p:nvPr/>
        </p:nvSpPr>
        <p:spPr>
          <a:xfrm>
            <a:off x="4828032" y="3627882"/>
            <a:ext cx="425196" cy="425196"/>
          </a:xfrm>
          <a:prstGeom prst="ellipse">
            <a:avLst/>
          </a:prstGeom>
          <a:solidFill>
            <a:srgbClr val="B73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8" name="TextBox 27"/>
          <p:cNvSpPr txBox="1"/>
          <p:nvPr/>
        </p:nvSpPr>
        <p:spPr>
          <a:xfrm>
            <a:off x="4828032" y="3626960"/>
            <a:ext cx="425196" cy="427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75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7246" y="3517903"/>
            <a:ext cx="3051810" cy="2885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75" b="1" dirty="0">
                <a:solidFill>
                  <a:srgbClr val="141414"/>
                </a:solidFill>
                <a:latin typeface="Aptos"/>
              </a:rPr>
              <a:t>MEMBER 4: [</a:t>
            </a:r>
            <a:r>
              <a:rPr lang="en-US" sz="1275" b="1" dirty="0">
                <a:solidFill>
                  <a:srgbClr val="141414"/>
                </a:solidFill>
                <a:latin typeface="Aptos"/>
              </a:rPr>
              <a:t>LACHAMPET KIRAN</a:t>
            </a:r>
            <a:r>
              <a:rPr sz="1275" b="1" dirty="0">
                <a:solidFill>
                  <a:srgbClr val="141414"/>
                </a:solidFill>
                <a:latin typeface="Aptos"/>
              </a:rPr>
              <a:t>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7246" y="3809535"/>
            <a:ext cx="305181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dirty="0">
                <a:solidFill>
                  <a:srgbClr val="69625C"/>
                </a:solidFill>
                <a:latin typeface="Aptos"/>
              </a:rPr>
              <a:t>Roll No.: [</a:t>
            </a:r>
            <a:r>
              <a:rPr lang="en-US" sz="1050" dirty="0">
                <a:solidFill>
                  <a:srgbClr val="69625C"/>
                </a:solidFill>
                <a:latin typeface="Aptos"/>
              </a:rPr>
              <a:t>2610520053___________</a:t>
            </a:r>
            <a:r>
              <a:rPr sz="1050" dirty="0">
                <a:solidFill>
                  <a:srgbClr val="69625C"/>
                </a:solidFill>
                <a:latin typeface="Aptos"/>
              </a:rPr>
              <a:t>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9630" y="4805366"/>
            <a:ext cx="240030" cy="196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75">
                <a:solidFill>
                  <a:srgbClr val="69625C"/>
                </a:solidFill>
                <a:latin typeface="Aptos"/>
              </a:rPr>
              <a:t>1</a:t>
            </a:r>
          </a:p>
        </p:txBody>
      </p:sp>
      <p:pic>
        <p:nvPicPr>
          <p:cNvPr id="34" name="KL logo" descr="KL University logo">
            <a:extLst>
              <a:ext uri="{FF2B5EF4-FFF2-40B4-BE49-F238E27FC236}">
                <a16:creationId xmlns:a16="http://schemas.microsoft.com/office/drawing/2014/main" id="{71D685E4-98DF-D8F5-8240-3421E6C66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74320"/>
            <a:ext cx="2260121" cy="10891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rminal icon badge"/>
          <p:cNvSpPr/>
          <p:nvPr/>
        </p:nvSpPr>
        <p:spPr>
          <a:xfrm>
            <a:off x="548640" y="914400"/>
            <a:ext cx="548280" cy="54828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6" name="Terminal icon" descr="Terminal icon"/>
          <p:cNvPicPr/>
          <p:nvPr/>
        </p:nvPicPr>
        <p:blipFill>
          <a:blip r:embed="rId3"/>
          <a:stretch/>
        </p:blipFill>
        <p:spPr>
          <a:xfrm>
            <a:off x="685800" y="10515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48640" y="1645920"/>
            <a:ext cx="4845960" cy="1188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To-Do List Management System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48640" y="2971800"/>
            <a:ext cx="4845960" cy="45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A beginner-level Linux Bash shell scripting project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Tag Linux Mini Project"/>
          <p:cNvSpPr/>
          <p:nvPr/>
        </p:nvSpPr>
        <p:spPr>
          <a:xfrm>
            <a:off x="548640" y="3657600"/>
            <a:ext cx="1599840" cy="3286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Tag text Linux Mini Project"/>
          <p:cNvSpPr/>
          <p:nvPr/>
        </p:nvSpPr>
        <p:spPr>
          <a:xfrm>
            <a:off x="548640" y="3657600"/>
            <a:ext cx="15998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Linux Mini Project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ag Ubuntu / WSL"/>
          <p:cNvSpPr/>
          <p:nvPr/>
        </p:nvSpPr>
        <p:spPr>
          <a:xfrm>
            <a:off x="2286000" y="3657600"/>
            <a:ext cx="1188360" cy="3286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Tag text Ubuntu / WSL"/>
          <p:cNvSpPr/>
          <p:nvPr/>
        </p:nvSpPr>
        <p:spPr>
          <a:xfrm>
            <a:off x="2286000" y="3657600"/>
            <a:ext cx="11883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Ubuntu / Bash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ag 2026–2027"/>
          <p:cNvSpPr/>
          <p:nvPr/>
        </p:nvSpPr>
        <p:spPr>
          <a:xfrm>
            <a:off x="3611880" y="3657600"/>
            <a:ext cx="1005480" cy="3286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Tag text 2026–2027"/>
          <p:cNvSpPr/>
          <p:nvPr/>
        </p:nvSpPr>
        <p:spPr>
          <a:xfrm>
            <a:off x="3611880" y="3657600"/>
            <a:ext cx="10054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2026–2027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review terminal window"/>
          <p:cNvSpPr/>
          <p:nvPr/>
        </p:nvSpPr>
        <p:spPr>
          <a:xfrm>
            <a:off x="5394960" y="1188720"/>
            <a:ext cx="3291480" cy="255996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 w="9525">
            <a:solidFill>
              <a:srgbClr val="5C6F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review terminal dot 1"/>
          <p:cNvSpPr/>
          <p:nvPr/>
        </p:nvSpPr>
        <p:spPr>
          <a:xfrm>
            <a:off x="5559480" y="1316880"/>
            <a:ext cx="100080" cy="10008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review terminal dot 2"/>
          <p:cNvSpPr/>
          <p:nvPr/>
        </p:nvSpPr>
        <p:spPr>
          <a:xfrm>
            <a:off x="5742360" y="1316880"/>
            <a:ext cx="100080" cy="10008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review terminal dot 3"/>
          <p:cNvSpPr/>
          <p:nvPr/>
        </p:nvSpPr>
        <p:spPr>
          <a:xfrm>
            <a:off x="5925240" y="1316880"/>
            <a:ext cx="100080" cy="1000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review terminal text"/>
          <p:cNvSpPr/>
          <p:nvPr/>
        </p:nvSpPr>
        <p:spPr>
          <a:xfrm>
            <a:off x="5577840" y="1600200"/>
            <a:ext cx="292572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F0E9"/>
                </a:solidFill>
                <a:effectLst/>
                <a:uFillTx/>
                <a:latin typeface="Courier New"/>
              </a:rPr>
              <a:t>$ ./to_do.sh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F0E9"/>
                </a:solidFill>
                <a:effectLst/>
                <a:uFillTx/>
                <a:latin typeface="Courier New"/>
              </a:rPr>
              <a:t>TASKORA — TO-DO LIST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F0E9"/>
                </a:solidFill>
                <a:effectLst/>
                <a:uFillTx/>
                <a:latin typeface="Courier New"/>
              </a:rPr>
              <a:t>1. Add task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F0E9"/>
                </a:solidFill>
                <a:effectLst/>
                <a:uFillTx/>
                <a:latin typeface="Courier New"/>
              </a:rPr>
              <a:t>2. View tasks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F0E9"/>
                </a:solidFill>
                <a:effectLst/>
                <a:uFillTx/>
                <a:latin typeface="Courier New"/>
              </a:rPr>
              <a:t>3. Mark complete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F0E9"/>
                </a:solidFill>
                <a:effectLst/>
                <a:uFillTx/>
                <a:latin typeface="Courier New"/>
              </a:rPr>
              <a:t>4. Delete task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F0E9"/>
                </a:solidFill>
                <a:effectLst/>
                <a:uFillTx/>
                <a:latin typeface="Courier New"/>
              </a:rPr>
              <a:t>5. Exit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F0E9"/>
                </a:solidFill>
                <a:effectLst/>
                <a:uFillTx/>
                <a:latin typeface="Courier New"/>
              </a:rPr>
              <a:t>Choose an option: 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F0E9"/>
                </a:solidFill>
                <a:effectLst/>
                <a:uFillTx/>
                <a:latin typeface="Courier New"/>
              </a:rPr>
              <a:t>Enter task: Finish Linux project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F0E9"/>
                </a:solidFill>
                <a:effectLst/>
                <a:uFillTx/>
                <a:latin typeface="Courier New"/>
              </a:rPr>
              <a:t>Task added successfully!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The Problem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roblem card"/>
          <p:cNvSpPr/>
          <p:nvPr/>
        </p:nvSpPr>
        <p:spPr>
          <a:xfrm>
            <a:off x="457200" y="1371600"/>
            <a:ext cx="3382920" cy="310860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Calculator icon badge"/>
          <p:cNvSpPr/>
          <p:nvPr/>
        </p:nvSpPr>
        <p:spPr>
          <a:xfrm>
            <a:off x="731520" y="1645920"/>
            <a:ext cx="594000" cy="59400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3" name="Calculator icon" descr="Calculator icon"/>
          <p:cNvPicPr/>
          <p:nvPr/>
        </p:nvPicPr>
        <p:blipFill>
          <a:blip r:embed="rId3"/>
          <a:stretch/>
        </p:blipFill>
        <p:spPr>
          <a:xfrm>
            <a:off x="880200" y="1794600"/>
            <a:ext cx="297000" cy="29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Problem heading"/>
          <p:cNvSpPr/>
          <p:nvPr/>
        </p:nvSpPr>
        <p:spPr>
          <a:xfrm>
            <a:off x="731520" y="242316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Disorganized task tracking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roblem text"/>
          <p:cNvSpPr/>
          <p:nvPr/>
        </p:nvSpPr>
        <p:spPr>
          <a:xfrm>
            <a:off x="731520" y="2834640"/>
            <a:ext cx="28342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Tasks kept in notebooks or memory can be forgotten, misplaced or difficult to update.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Requirements heading"/>
          <p:cNvSpPr/>
          <p:nvPr/>
        </p:nvSpPr>
        <p:spPr>
          <a:xfrm>
            <a:off x="4297680" y="137160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system should…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Check 1 badge"/>
          <p:cNvSpPr/>
          <p:nvPr/>
        </p:nvSpPr>
        <p:spPr>
          <a:xfrm>
            <a:off x="4297680" y="1828800"/>
            <a:ext cx="328680" cy="32868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8" name="Check 1" descr="Check 1"/>
          <p:cNvPicPr/>
          <p:nvPr/>
        </p:nvPicPr>
        <p:blipFill>
          <a:blip r:embed="rId4"/>
          <a:stretch/>
        </p:blipFill>
        <p:spPr>
          <a:xfrm>
            <a:off x="4380120" y="1911240"/>
            <a:ext cx="164160" cy="1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Requirement 1"/>
          <p:cNvSpPr/>
          <p:nvPr/>
        </p:nvSpPr>
        <p:spPr>
          <a:xfrm>
            <a:off x="4754880" y="1828800"/>
            <a:ext cx="39315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Allow users to add tasks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Check 2 badge"/>
          <p:cNvSpPr/>
          <p:nvPr/>
        </p:nvSpPr>
        <p:spPr>
          <a:xfrm>
            <a:off x="4297680" y="2267640"/>
            <a:ext cx="328680" cy="32868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1" name="Check 2" descr="Check 2"/>
          <p:cNvPicPr/>
          <p:nvPr/>
        </p:nvPicPr>
        <p:blipFill>
          <a:blip r:embed="rId4"/>
          <a:stretch/>
        </p:blipFill>
        <p:spPr>
          <a:xfrm>
            <a:off x="4380120" y="2350080"/>
            <a:ext cx="164160" cy="1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Requirement 2"/>
          <p:cNvSpPr/>
          <p:nvPr/>
        </p:nvSpPr>
        <p:spPr>
          <a:xfrm>
            <a:off x="4754880" y="2267640"/>
            <a:ext cx="39315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Display all saved tasks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Check 3 badge"/>
          <p:cNvSpPr/>
          <p:nvPr/>
        </p:nvSpPr>
        <p:spPr>
          <a:xfrm>
            <a:off x="4297680" y="2706480"/>
            <a:ext cx="328680" cy="32868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4" name="Check 3" descr="Check 3"/>
          <p:cNvPicPr/>
          <p:nvPr/>
        </p:nvPicPr>
        <p:blipFill>
          <a:blip r:embed="rId4"/>
          <a:stretch/>
        </p:blipFill>
        <p:spPr>
          <a:xfrm>
            <a:off x="4380120" y="2788920"/>
            <a:ext cx="164160" cy="1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Requirement 3"/>
          <p:cNvSpPr/>
          <p:nvPr/>
        </p:nvSpPr>
        <p:spPr>
          <a:xfrm>
            <a:off x="4754880" y="2706480"/>
            <a:ext cx="39315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Mark tasks as completed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Check 4 badge"/>
          <p:cNvSpPr/>
          <p:nvPr/>
        </p:nvSpPr>
        <p:spPr>
          <a:xfrm>
            <a:off x="4297680" y="3145680"/>
            <a:ext cx="328680" cy="32868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7" name="Check 4" descr="Check 4"/>
          <p:cNvPicPr/>
          <p:nvPr/>
        </p:nvPicPr>
        <p:blipFill>
          <a:blip r:embed="rId4"/>
          <a:stretch/>
        </p:blipFill>
        <p:spPr>
          <a:xfrm>
            <a:off x="4380120" y="3227760"/>
            <a:ext cx="164160" cy="1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Requirement 4"/>
          <p:cNvSpPr/>
          <p:nvPr/>
        </p:nvSpPr>
        <p:spPr>
          <a:xfrm>
            <a:off x="4754880" y="3145680"/>
            <a:ext cx="39315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Delete tasks by ID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Check 5 badge"/>
          <p:cNvSpPr/>
          <p:nvPr/>
        </p:nvSpPr>
        <p:spPr>
          <a:xfrm>
            <a:off x="4297680" y="3584520"/>
            <a:ext cx="328680" cy="32868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0" name="Check 5" descr="Check 5"/>
          <p:cNvPicPr/>
          <p:nvPr/>
        </p:nvPicPr>
        <p:blipFill>
          <a:blip r:embed="rId4"/>
          <a:stretch/>
        </p:blipFill>
        <p:spPr>
          <a:xfrm>
            <a:off x="4380120" y="3666600"/>
            <a:ext cx="164160" cy="1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Requirement 5"/>
          <p:cNvSpPr/>
          <p:nvPr/>
        </p:nvSpPr>
        <p:spPr>
          <a:xfrm>
            <a:off x="4754880" y="3584520"/>
            <a:ext cx="39315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Store tasks in a text file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Check 6 badge"/>
          <p:cNvSpPr/>
          <p:nvPr/>
        </p:nvSpPr>
        <p:spPr>
          <a:xfrm>
            <a:off x="4297680" y="4023360"/>
            <a:ext cx="328680" cy="32868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3" name="Check 6" descr="Check 6"/>
          <p:cNvPicPr/>
          <p:nvPr/>
        </p:nvPicPr>
        <p:blipFill>
          <a:blip r:embed="rId4"/>
          <a:stretch/>
        </p:blipFill>
        <p:spPr>
          <a:xfrm>
            <a:off x="4380120" y="4105800"/>
            <a:ext cx="164160" cy="1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Requirement 6"/>
          <p:cNvSpPr/>
          <p:nvPr/>
        </p:nvSpPr>
        <p:spPr>
          <a:xfrm>
            <a:off x="4754880" y="4023360"/>
            <a:ext cx="39315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 a clear menu-driven interface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ldNum" idx="6"/>
          </p:nvPr>
        </p:nvSpPr>
        <p:spPr>
          <a:xfrm>
            <a:off x="822960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86E63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rgbClr val="586E63"/>
                </a:solidFill>
                <a:effectLst/>
                <a:uFillTx/>
                <a:latin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Objectives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Objective card 1"/>
          <p:cNvSpPr/>
          <p:nvPr/>
        </p:nvSpPr>
        <p:spPr>
          <a:xfrm>
            <a:off x="457200" y="1371600"/>
            <a:ext cx="2605680" cy="14169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Bash basics icon badge"/>
          <p:cNvSpPr/>
          <p:nvPr/>
        </p:nvSpPr>
        <p:spPr>
          <a:xfrm>
            <a:off x="640080" y="1554480"/>
            <a:ext cx="411120" cy="41112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9" name="Bash basics icon" descr="Bash basics icon"/>
          <p:cNvPicPr/>
          <p:nvPr/>
        </p:nvPicPr>
        <p:blipFill>
          <a:blip r:embed="rId3"/>
          <a:stretch/>
        </p:blipFill>
        <p:spPr>
          <a:xfrm>
            <a:off x="743040" y="1657440"/>
            <a:ext cx="205560" cy="20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Objective title 1"/>
          <p:cNvSpPr/>
          <p:nvPr/>
        </p:nvSpPr>
        <p:spPr>
          <a:xfrm>
            <a:off x="1188720" y="1554480"/>
            <a:ext cx="17827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Bash basics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Objective text 1"/>
          <p:cNvSpPr/>
          <p:nvPr/>
        </p:nvSpPr>
        <p:spPr>
          <a:xfrm>
            <a:off x="640080" y="212148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 the Linux terminal to run a shell script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Objective card 2"/>
          <p:cNvSpPr/>
          <p:nvPr/>
        </p:nvSpPr>
        <p:spPr>
          <a:xfrm>
            <a:off x="3269160" y="1371600"/>
            <a:ext cx="2605680" cy="14169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Variables &amp; input icon badge"/>
          <p:cNvSpPr/>
          <p:nvPr/>
        </p:nvSpPr>
        <p:spPr>
          <a:xfrm>
            <a:off x="3452040" y="1554480"/>
            <a:ext cx="411120" cy="41112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4" name="Variables &amp; input icon" descr="Variables &amp; input icon"/>
          <p:cNvPicPr/>
          <p:nvPr/>
        </p:nvPicPr>
        <p:blipFill>
          <a:blip r:embed="rId4"/>
          <a:stretch/>
        </p:blipFill>
        <p:spPr>
          <a:xfrm>
            <a:off x="3554640" y="1657440"/>
            <a:ext cx="205560" cy="20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Objective title 2"/>
          <p:cNvSpPr/>
          <p:nvPr/>
        </p:nvSpPr>
        <p:spPr>
          <a:xfrm>
            <a:off x="4000680" y="1554480"/>
            <a:ext cx="17827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Variables &amp; input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Objective text 2"/>
          <p:cNvSpPr/>
          <p:nvPr/>
        </p:nvSpPr>
        <p:spPr>
          <a:xfrm>
            <a:off x="3452040" y="212148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Read task descriptions and menu choices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Objective card 3"/>
          <p:cNvSpPr/>
          <p:nvPr/>
        </p:nvSpPr>
        <p:spPr>
          <a:xfrm>
            <a:off x="6080760" y="1371600"/>
            <a:ext cx="2605680" cy="14169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Arithmetic icon badge"/>
          <p:cNvSpPr/>
          <p:nvPr/>
        </p:nvSpPr>
        <p:spPr>
          <a:xfrm>
            <a:off x="6263640" y="1554480"/>
            <a:ext cx="411120" cy="41112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9" name="Arithmetic icon" descr="Arithmetic icon"/>
          <p:cNvPicPr/>
          <p:nvPr/>
        </p:nvPicPr>
        <p:blipFill>
          <a:blip r:embed="rId5"/>
          <a:stretch/>
        </p:blipFill>
        <p:spPr>
          <a:xfrm>
            <a:off x="6366600" y="1657440"/>
            <a:ext cx="205560" cy="20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Objective title 3"/>
          <p:cNvSpPr/>
          <p:nvPr/>
        </p:nvSpPr>
        <p:spPr>
          <a:xfrm>
            <a:off x="6812280" y="1554480"/>
            <a:ext cx="17827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File handling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Objective text 3"/>
          <p:cNvSpPr/>
          <p:nvPr/>
        </p:nvSpPr>
        <p:spPr>
          <a:xfrm>
            <a:off x="6263640" y="212148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Save and retrieve tasks from a text file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Objective card 4"/>
          <p:cNvSpPr/>
          <p:nvPr/>
        </p:nvSpPr>
        <p:spPr>
          <a:xfrm>
            <a:off x="457200" y="3017520"/>
            <a:ext cx="2605680" cy="14169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Decisions icon badge"/>
          <p:cNvSpPr/>
          <p:nvPr/>
        </p:nvSpPr>
        <p:spPr>
          <a:xfrm>
            <a:off x="640080" y="3200400"/>
            <a:ext cx="411120" cy="41112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Decisions icon" descr="Decisions icon"/>
          <p:cNvPicPr/>
          <p:nvPr/>
        </p:nvPicPr>
        <p:blipFill>
          <a:blip r:embed="rId6"/>
          <a:stretch/>
        </p:blipFill>
        <p:spPr>
          <a:xfrm>
            <a:off x="743040" y="3303360"/>
            <a:ext cx="205560" cy="20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Objective title 4"/>
          <p:cNvSpPr/>
          <p:nvPr/>
        </p:nvSpPr>
        <p:spPr>
          <a:xfrm>
            <a:off x="1188720" y="3200400"/>
            <a:ext cx="17827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Decisions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Objective text 4"/>
          <p:cNvSpPr/>
          <p:nvPr/>
        </p:nvSpPr>
        <p:spPr>
          <a:xfrm>
            <a:off x="640080" y="376740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 case statements for menu options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Objective card 5"/>
          <p:cNvSpPr/>
          <p:nvPr/>
        </p:nvSpPr>
        <p:spPr>
          <a:xfrm>
            <a:off x="3269160" y="3017520"/>
            <a:ext cx="2605680" cy="14169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Functions icon badge"/>
          <p:cNvSpPr/>
          <p:nvPr/>
        </p:nvSpPr>
        <p:spPr>
          <a:xfrm>
            <a:off x="3452040" y="3200400"/>
            <a:ext cx="411120" cy="41112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9" name="Functions icon" descr="Functions icon"/>
          <p:cNvPicPr/>
          <p:nvPr/>
        </p:nvPicPr>
        <p:blipFill>
          <a:blip r:embed="rId7"/>
          <a:stretch/>
        </p:blipFill>
        <p:spPr>
          <a:xfrm>
            <a:off x="3554640" y="3303360"/>
            <a:ext cx="205560" cy="20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Objective title 5"/>
          <p:cNvSpPr/>
          <p:nvPr/>
        </p:nvSpPr>
        <p:spPr>
          <a:xfrm>
            <a:off x="4000680" y="3200400"/>
            <a:ext cx="17827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Functions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Objective text 5"/>
          <p:cNvSpPr/>
          <p:nvPr/>
        </p:nvSpPr>
        <p:spPr>
          <a:xfrm>
            <a:off x="3452040" y="376740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Separate add, view, complete and delete actions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Objective card 6"/>
          <p:cNvSpPr/>
          <p:nvPr/>
        </p:nvSpPr>
        <p:spPr>
          <a:xfrm>
            <a:off x="6080760" y="3017520"/>
            <a:ext cx="2605680" cy="14169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Files &amp; permissions icon badge"/>
          <p:cNvSpPr/>
          <p:nvPr/>
        </p:nvSpPr>
        <p:spPr>
          <a:xfrm>
            <a:off x="6263640" y="3200400"/>
            <a:ext cx="411120" cy="41112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4" name="Files &amp; permissions icon" descr="Files &amp; permissions icon"/>
          <p:cNvPicPr/>
          <p:nvPr/>
        </p:nvPicPr>
        <p:blipFill>
          <a:blip r:embed="rId8"/>
          <a:stretch/>
        </p:blipFill>
        <p:spPr>
          <a:xfrm>
            <a:off x="6366600" y="3303360"/>
            <a:ext cx="205560" cy="20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Objective title 6"/>
          <p:cNvSpPr/>
          <p:nvPr/>
        </p:nvSpPr>
        <p:spPr>
          <a:xfrm>
            <a:off x="6812280" y="3200400"/>
            <a:ext cx="17827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Permissions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Objective text 6"/>
          <p:cNvSpPr/>
          <p:nvPr/>
        </p:nvSpPr>
        <p:spPr>
          <a:xfrm>
            <a:off x="6263640" y="376740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Make the script executable with chmod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ldNum" idx="7"/>
          </p:nvPr>
        </p:nvSpPr>
        <p:spPr>
          <a:xfrm>
            <a:off x="822960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86E63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rgbClr val="586E63"/>
                </a:solidFill>
                <a:effectLst/>
                <a:uFillTx/>
                <a:latin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Scope &amp; Requirements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Scope card"/>
          <p:cNvSpPr/>
          <p:nvPr/>
        </p:nvSpPr>
        <p:spPr>
          <a:xfrm>
            <a:off x="457200" y="1371600"/>
            <a:ext cx="4205880" cy="310860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Scope label 1"/>
          <p:cNvSpPr/>
          <p:nvPr/>
        </p:nvSpPr>
        <p:spPr>
          <a:xfrm>
            <a:off x="685800" y="148140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Platform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cope value 1"/>
          <p:cNvSpPr/>
          <p:nvPr/>
        </p:nvSpPr>
        <p:spPr>
          <a:xfrm>
            <a:off x="1737360" y="1481400"/>
            <a:ext cx="2788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Ubuntu Linux / WSL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cope label 2"/>
          <p:cNvSpPr/>
          <p:nvPr/>
        </p:nvSpPr>
        <p:spPr>
          <a:xfrm>
            <a:off x="685800" y="196596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Interface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cope value 2"/>
          <p:cNvSpPr/>
          <p:nvPr/>
        </p:nvSpPr>
        <p:spPr>
          <a:xfrm>
            <a:off x="1737360" y="1965960"/>
            <a:ext cx="2788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Command-line menu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cope label 3"/>
          <p:cNvSpPr/>
          <p:nvPr/>
        </p:nvSpPr>
        <p:spPr>
          <a:xfrm>
            <a:off x="685800" y="245052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Input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cope value 3"/>
          <p:cNvSpPr/>
          <p:nvPr/>
        </p:nvSpPr>
        <p:spPr>
          <a:xfrm>
            <a:off x="1737360" y="2450520"/>
            <a:ext cx="2788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Task description and task ID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cope label 4"/>
          <p:cNvSpPr/>
          <p:nvPr/>
        </p:nvSpPr>
        <p:spPr>
          <a:xfrm>
            <a:off x="685800" y="293508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Output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cope value 4"/>
          <p:cNvSpPr/>
          <p:nvPr/>
        </p:nvSpPr>
        <p:spPr>
          <a:xfrm>
            <a:off x="1737360" y="2935080"/>
            <a:ext cx="2788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Task list and status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cope label 5"/>
          <p:cNvSpPr/>
          <p:nvPr/>
        </p:nvSpPr>
        <p:spPr>
          <a:xfrm>
            <a:off x="685800" y="342000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Capacity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cope value 5"/>
          <p:cNvSpPr/>
          <p:nvPr/>
        </p:nvSpPr>
        <p:spPr>
          <a:xfrm>
            <a:off x="1737360" y="3420000"/>
            <a:ext cx="2788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Multiple saved tasks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cope label 6"/>
          <p:cNvSpPr/>
          <p:nvPr/>
        </p:nvSpPr>
        <p:spPr>
          <a:xfrm>
            <a:off x="685800" y="390456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cope value 6"/>
          <p:cNvSpPr/>
          <p:nvPr/>
        </p:nvSpPr>
        <p:spPr>
          <a:xfrm>
            <a:off x="1737360" y="3904560"/>
            <a:ext cx="2788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Students managing academic or personal work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Hardware card"/>
          <p:cNvSpPr/>
          <p:nvPr/>
        </p:nvSpPr>
        <p:spPr>
          <a:xfrm>
            <a:off x="4937760" y="1371600"/>
            <a:ext cx="3748680" cy="1462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Hardware icon badge"/>
          <p:cNvSpPr/>
          <p:nvPr/>
        </p:nvSpPr>
        <p:spPr>
          <a:xfrm>
            <a:off x="5166360" y="1536120"/>
            <a:ext cx="383760" cy="3837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4" name="Hardware icon" descr="Hardware icon"/>
          <p:cNvPicPr/>
          <p:nvPr/>
        </p:nvPicPr>
        <p:blipFill>
          <a:blip r:embed="rId3"/>
          <a:stretch/>
        </p:blipFill>
        <p:spPr>
          <a:xfrm>
            <a:off x="5262480" y="1632240"/>
            <a:ext cx="19152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Hardware heading"/>
          <p:cNvSpPr/>
          <p:nvPr/>
        </p:nvSpPr>
        <p:spPr>
          <a:xfrm>
            <a:off x="5669280" y="1536120"/>
            <a:ext cx="28342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Hardware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Hardware list"/>
          <p:cNvSpPr/>
          <p:nvPr/>
        </p:nvSpPr>
        <p:spPr>
          <a:xfrm>
            <a:off x="5166360" y="1984320"/>
            <a:ext cx="33829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B130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Computer or laptop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Minimum 4 GB RAM recommended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Keyboard and display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oftware card"/>
          <p:cNvSpPr/>
          <p:nvPr/>
        </p:nvSpPr>
        <p:spPr>
          <a:xfrm>
            <a:off x="4937760" y="2971800"/>
            <a:ext cx="3748680" cy="15084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Software icon badge"/>
          <p:cNvSpPr/>
          <p:nvPr/>
        </p:nvSpPr>
        <p:spPr>
          <a:xfrm>
            <a:off x="5166360" y="3108960"/>
            <a:ext cx="383760" cy="3837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9" name="Software icon" descr="Software icon"/>
          <p:cNvPicPr/>
          <p:nvPr/>
        </p:nvPicPr>
        <p:blipFill>
          <a:blip r:embed="rId4"/>
          <a:stretch/>
        </p:blipFill>
        <p:spPr>
          <a:xfrm>
            <a:off x="5262480" y="3205080"/>
            <a:ext cx="19152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Software heading"/>
          <p:cNvSpPr/>
          <p:nvPr/>
        </p:nvSpPr>
        <p:spPr>
          <a:xfrm>
            <a:off x="5669280" y="3108960"/>
            <a:ext cx="28342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Software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oftware list"/>
          <p:cNvSpPr/>
          <p:nvPr/>
        </p:nvSpPr>
        <p:spPr>
          <a:xfrm>
            <a:off x="5166360" y="3584520"/>
            <a:ext cx="33829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B130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Ubuntu Linux or WSL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Bash shell and terminal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editor such as nano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ldNum" idx="8"/>
          </p:nvPr>
        </p:nvSpPr>
        <p:spPr>
          <a:xfrm>
            <a:off x="822960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86E63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rgbClr val="586E63"/>
                </a:solidFill>
                <a:effectLst/>
                <a:uFillTx/>
                <a:latin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Existing vs Proposed System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Existing card"/>
          <p:cNvSpPr/>
          <p:nvPr/>
        </p:nvSpPr>
        <p:spPr>
          <a:xfrm>
            <a:off x="457200" y="1371600"/>
            <a:ext cx="3748680" cy="310860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Existing icon badge"/>
          <p:cNvSpPr/>
          <p:nvPr/>
        </p:nvSpPr>
        <p:spPr>
          <a:xfrm>
            <a:off x="685800" y="1554480"/>
            <a:ext cx="411120" cy="41112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6" name="Existing icon" descr="Existing icon"/>
          <p:cNvPicPr/>
          <p:nvPr/>
        </p:nvPicPr>
        <p:blipFill>
          <a:blip r:embed="rId3"/>
          <a:stretch/>
        </p:blipFill>
        <p:spPr>
          <a:xfrm>
            <a:off x="788760" y="1657440"/>
            <a:ext cx="205560" cy="20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Existing heading"/>
          <p:cNvSpPr/>
          <p:nvPr/>
        </p:nvSpPr>
        <p:spPr>
          <a:xfrm>
            <a:off x="1188720" y="155448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Existing: manual tracking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Existing intro"/>
          <p:cNvSpPr/>
          <p:nvPr/>
        </p:nvSpPr>
        <p:spPr>
          <a:xfrm>
            <a:off x="685800" y="2148840"/>
            <a:ext cx="32914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Tasks written in notebooks or remembered mentally can be forgotten or become difficult to update.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Existing list"/>
          <p:cNvSpPr/>
          <p:nvPr/>
        </p:nvSpPr>
        <p:spPr>
          <a:xfrm>
            <a:off x="685800" y="3017520"/>
            <a:ext cx="32914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B130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Easy to forget tasks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 automatic status tracking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Completed tasks may be unclear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Lists are harder to maintain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roposed card"/>
          <p:cNvSpPr/>
          <p:nvPr/>
        </p:nvSpPr>
        <p:spPr>
          <a:xfrm>
            <a:off x="4937760" y="1371600"/>
            <a:ext cx="3748680" cy="3108600"/>
          </a:xfrm>
          <a:prstGeom prst="roundRect">
            <a:avLst>
              <a:gd name="adj" fmla="val 2353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Proposed icon badge"/>
          <p:cNvSpPr/>
          <p:nvPr/>
        </p:nvSpPr>
        <p:spPr>
          <a:xfrm>
            <a:off x="5166360" y="1554480"/>
            <a:ext cx="411120" cy="411120"/>
          </a:xfrm>
          <a:prstGeom prst="ellipse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2" name="Proposed icon" descr="Proposed icon"/>
          <p:cNvPicPr/>
          <p:nvPr/>
        </p:nvPicPr>
        <p:blipFill>
          <a:blip r:embed="rId4"/>
          <a:stretch/>
        </p:blipFill>
        <p:spPr>
          <a:xfrm>
            <a:off x="5269320" y="1657440"/>
            <a:ext cx="205560" cy="20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Proposed heading"/>
          <p:cNvSpPr/>
          <p:nvPr/>
        </p:nvSpPr>
        <p:spPr>
          <a:xfrm>
            <a:off x="5669280" y="155448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Proposed: Bash script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roposed intro"/>
          <p:cNvSpPr/>
          <p:nvPr/>
        </p:nvSpPr>
        <p:spPr>
          <a:xfrm>
            <a:off x="5166360" y="2148840"/>
            <a:ext cx="32914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terminal program manages tasks through a menu and a persistent text file.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roposed list"/>
          <p:cNvSpPr/>
          <p:nvPr/>
        </p:nvSpPr>
        <p:spPr>
          <a:xfrm>
            <a:off x="5166360" y="3017520"/>
            <a:ext cx="32914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B130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Add, view, complete and delete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Saves tasks between runs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Uses IDs for updates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Runs locally in Linux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Arrow badge"/>
          <p:cNvSpPr/>
          <p:nvPr/>
        </p:nvSpPr>
        <p:spPr>
          <a:xfrm>
            <a:off x="4343400" y="2697480"/>
            <a:ext cx="456840" cy="45684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7" name="Arrow" descr="Arrow"/>
          <p:cNvPicPr/>
          <p:nvPr/>
        </p:nvPicPr>
        <p:blipFill>
          <a:blip r:embed="rId5"/>
          <a:stretch/>
        </p:blipFill>
        <p:spPr>
          <a:xfrm>
            <a:off x="4457880" y="281196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PlaceHolder 2"/>
          <p:cNvSpPr>
            <a:spLocks noGrp="1"/>
          </p:cNvSpPr>
          <p:nvPr>
            <p:ph type="sldNum" idx="9"/>
          </p:nvPr>
        </p:nvSpPr>
        <p:spPr>
          <a:xfrm>
            <a:off x="822960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86E63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rgbClr val="586E63"/>
                </a:solidFill>
                <a:effectLst/>
                <a:uFillTx/>
                <a:latin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dk1"/>
                </a:solidFill>
                <a:effectLst/>
                <a:uFillTx/>
                <a:latin typeface="Cambria"/>
              </a:rPr>
              <a:t>Program Workflow</a:t>
            </a:r>
            <a:endParaRPr lang="en-US" sz="36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Flow card 1"/>
          <p:cNvSpPr/>
          <p:nvPr/>
        </p:nvSpPr>
        <p:spPr>
          <a:xfrm>
            <a:off x="457200" y="1371600"/>
            <a:ext cx="1828440" cy="13712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Step 1 badge"/>
          <p:cNvSpPr/>
          <p:nvPr/>
        </p:nvSpPr>
        <p:spPr>
          <a:xfrm>
            <a:off x="594360" y="1490400"/>
            <a:ext cx="347040" cy="3470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Step 1 number"/>
          <p:cNvSpPr/>
          <p:nvPr/>
        </p:nvSpPr>
        <p:spPr>
          <a:xfrm>
            <a:off x="594360" y="14904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600" b="1">
                <a:latin typeface="Calibri"/>
              </a:rPr>
              <a:t>1</a:t>
            </a:r>
            <a:endParaRPr lang="en-US" sz="1600" b="0" u="none" strike="noStrike" dirty="0">
              <a:solidFill>
                <a:schemeClr val="bg2"/>
              </a:solidFill>
              <a:effectLst/>
              <a:uFillTx/>
              <a:latin typeface="Arial"/>
            </a:endParaRPr>
          </a:p>
        </p:txBody>
      </p:sp>
      <p:sp>
        <p:nvSpPr>
          <p:cNvPr id="133" name="Flow title 1"/>
          <p:cNvSpPr/>
          <p:nvPr/>
        </p:nvSpPr>
        <p:spPr>
          <a:xfrm>
            <a:off x="594360" y="1901880"/>
            <a:ext cx="1599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100" b="1">
                <a:latin typeface="Calibri"/>
              </a:rPr>
              <a:t>Start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Flow text 1"/>
          <p:cNvSpPr/>
          <p:nvPr/>
        </p:nvSpPr>
        <p:spPr>
          <a:xfrm>
            <a:off x="594360" y="2212920"/>
            <a:ext cx="15998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900" b="0">
                <a:latin typeface="Calibri"/>
              </a:rPr>
              <a:t>Launch the Bash script in the terminal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Flow arrow 1"/>
          <p:cNvSpPr/>
          <p:nvPr/>
        </p:nvSpPr>
        <p:spPr>
          <a:xfrm>
            <a:off x="2331720" y="1938600"/>
            <a:ext cx="209880" cy="237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Flow card 2"/>
          <p:cNvSpPr/>
          <p:nvPr/>
        </p:nvSpPr>
        <p:spPr>
          <a:xfrm>
            <a:off x="2590560" y="1371600"/>
            <a:ext cx="1828440" cy="13712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Step 2 badge"/>
          <p:cNvSpPr/>
          <p:nvPr/>
        </p:nvSpPr>
        <p:spPr>
          <a:xfrm>
            <a:off x="2727720" y="1490400"/>
            <a:ext cx="347040" cy="3470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Step 2 number"/>
          <p:cNvSpPr/>
          <p:nvPr/>
        </p:nvSpPr>
        <p:spPr>
          <a:xfrm>
            <a:off x="2727720" y="14904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600" b="1">
                <a:latin typeface="Calibri"/>
              </a:rPr>
              <a:t>2</a:t>
            </a:r>
            <a:endParaRPr lang="en-US" sz="16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39" name="Flow title 2"/>
          <p:cNvSpPr/>
          <p:nvPr/>
        </p:nvSpPr>
        <p:spPr>
          <a:xfrm>
            <a:off x="2727720" y="1901880"/>
            <a:ext cx="1599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100" b="1">
                <a:latin typeface="Calibri"/>
              </a:rPr>
              <a:t>Initialize file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Flow text 2"/>
          <p:cNvSpPr/>
          <p:nvPr/>
        </p:nvSpPr>
        <p:spPr>
          <a:xfrm>
            <a:off x="2727720" y="2212920"/>
            <a:ext cx="15998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900" b="0">
                <a:latin typeface="Calibri"/>
              </a:rPr>
              <a:t>Create the task folder and tasks.txt if missing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Flow arrow 2"/>
          <p:cNvSpPr/>
          <p:nvPr/>
        </p:nvSpPr>
        <p:spPr>
          <a:xfrm>
            <a:off x="4465080" y="1938600"/>
            <a:ext cx="209880" cy="237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Flow card 3"/>
          <p:cNvSpPr/>
          <p:nvPr/>
        </p:nvSpPr>
        <p:spPr>
          <a:xfrm>
            <a:off x="4723920" y="1371600"/>
            <a:ext cx="1828440" cy="13712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Step 3 badge"/>
          <p:cNvSpPr/>
          <p:nvPr/>
        </p:nvSpPr>
        <p:spPr>
          <a:xfrm>
            <a:off x="4839840" y="1500120"/>
            <a:ext cx="347040" cy="3470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latin typeface="Calibri"/>
              </a:rPr>
              <a:t>3</a:t>
            </a:r>
            <a:endParaRPr lang="en-US" sz="1600" b="0" u="none" strike="noStrike" dirty="0">
              <a:solidFill>
                <a:schemeClr val="bg1"/>
              </a:solidFill>
              <a:effectLst/>
              <a:uFillTx/>
              <a:latin typeface="Calibri"/>
            </a:endParaRPr>
          </a:p>
        </p:txBody>
      </p:sp>
      <p:sp>
        <p:nvSpPr>
          <p:cNvPr id="144" name="Step 3 number"/>
          <p:cNvSpPr/>
          <p:nvPr/>
        </p:nvSpPr>
        <p:spPr>
          <a:xfrm>
            <a:off x="4861080" y="14904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Flow title 3"/>
          <p:cNvSpPr/>
          <p:nvPr/>
        </p:nvSpPr>
        <p:spPr>
          <a:xfrm>
            <a:off x="4861080" y="1901880"/>
            <a:ext cx="1599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100" b="1">
                <a:latin typeface="Calibri"/>
              </a:rPr>
              <a:t>Display menu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Flow text 3"/>
          <p:cNvSpPr/>
          <p:nvPr/>
        </p:nvSpPr>
        <p:spPr>
          <a:xfrm>
            <a:off x="4861080" y="2212920"/>
            <a:ext cx="15998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900" b="0">
                <a:latin typeface="Calibri"/>
              </a:rPr>
              <a:t>Show the six available actions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Flow arrow 3"/>
          <p:cNvSpPr/>
          <p:nvPr/>
        </p:nvSpPr>
        <p:spPr>
          <a:xfrm>
            <a:off x="6598440" y="1938600"/>
            <a:ext cx="209880" cy="237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Flow card 4"/>
          <p:cNvSpPr/>
          <p:nvPr/>
        </p:nvSpPr>
        <p:spPr>
          <a:xfrm>
            <a:off x="6856920" y="1371600"/>
            <a:ext cx="1828440" cy="13712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Step 4 badge"/>
          <p:cNvSpPr/>
          <p:nvPr/>
        </p:nvSpPr>
        <p:spPr>
          <a:xfrm>
            <a:off x="6994080" y="1490400"/>
            <a:ext cx="347040" cy="3470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Step 4 number"/>
          <p:cNvSpPr/>
          <p:nvPr/>
        </p:nvSpPr>
        <p:spPr>
          <a:xfrm>
            <a:off x="6994080" y="14904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600" b="1">
                <a:latin typeface="Calibri"/>
              </a:rPr>
              <a:t>4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Flow title 4"/>
          <p:cNvSpPr/>
          <p:nvPr/>
        </p:nvSpPr>
        <p:spPr>
          <a:xfrm>
            <a:off x="6994080" y="1901880"/>
            <a:ext cx="1599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100" b="1">
                <a:latin typeface="Calibri"/>
              </a:rPr>
              <a:t>Choose action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Flow text 4"/>
          <p:cNvSpPr/>
          <p:nvPr/>
        </p:nvSpPr>
        <p:spPr>
          <a:xfrm>
            <a:off x="6994080" y="2212920"/>
            <a:ext cx="15998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900" b="0">
                <a:latin typeface="Calibri"/>
              </a:rPr>
              <a:t>Enter a menu number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Flow card 5"/>
          <p:cNvSpPr/>
          <p:nvPr/>
        </p:nvSpPr>
        <p:spPr>
          <a:xfrm>
            <a:off x="457200" y="3063240"/>
            <a:ext cx="1828440" cy="13712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Step 5 badge"/>
          <p:cNvSpPr/>
          <p:nvPr/>
        </p:nvSpPr>
        <p:spPr>
          <a:xfrm>
            <a:off x="594360" y="3182040"/>
            <a:ext cx="347040" cy="3470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Step 5 number"/>
          <p:cNvSpPr/>
          <p:nvPr/>
        </p:nvSpPr>
        <p:spPr>
          <a:xfrm>
            <a:off x="59436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600" b="1">
                <a:latin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Flow title 5"/>
          <p:cNvSpPr/>
          <p:nvPr/>
        </p:nvSpPr>
        <p:spPr>
          <a:xfrm>
            <a:off x="594360" y="3593520"/>
            <a:ext cx="1599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100" b="1">
                <a:latin typeface="Calibri"/>
              </a:rPr>
              <a:t>Run action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Flow text 5"/>
          <p:cNvSpPr/>
          <p:nvPr/>
        </p:nvSpPr>
        <p:spPr>
          <a:xfrm>
            <a:off x="594360" y="3904560"/>
            <a:ext cx="15998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850" b="0">
                <a:latin typeface="Calibri"/>
              </a:rPr>
              <a:t>Add, search, complete, delete or view statistics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Flow arrow 5"/>
          <p:cNvSpPr/>
          <p:nvPr/>
        </p:nvSpPr>
        <p:spPr>
          <a:xfrm>
            <a:off x="2331720" y="3630240"/>
            <a:ext cx="209880" cy="237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Flow card 6"/>
          <p:cNvSpPr/>
          <p:nvPr/>
        </p:nvSpPr>
        <p:spPr>
          <a:xfrm>
            <a:off x="2590560" y="3063240"/>
            <a:ext cx="1828440" cy="13712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Step 6 badge"/>
          <p:cNvSpPr/>
          <p:nvPr/>
        </p:nvSpPr>
        <p:spPr>
          <a:xfrm>
            <a:off x="2727720" y="3182040"/>
            <a:ext cx="347040" cy="3470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Step 6 number"/>
          <p:cNvSpPr/>
          <p:nvPr/>
        </p:nvSpPr>
        <p:spPr>
          <a:xfrm>
            <a:off x="27277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600" b="1">
                <a:latin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Flow title 6"/>
          <p:cNvSpPr/>
          <p:nvPr/>
        </p:nvSpPr>
        <p:spPr>
          <a:xfrm>
            <a:off x="2727720" y="3593520"/>
            <a:ext cx="1599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100" b="1">
                <a:latin typeface="Calibri"/>
              </a:rPr>
              <a:t>Validate input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Flow text 6"/>
          <p:cNvSpPr/>
          <p:nvPr/>
        </p:nvSpPr>
        <p:spPr>
          <a:xfrm>
            <a:off x="2727720" y="3904560"/>
            <a:ext cx="15998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900" b="0">
                <a:latin typeface="Calibri"/>
              </a:rPr>
              <a:t>Check task text and task number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Flow arrow 6"/>
          <p:cNvSpPr/>
          <p:nvPr/>
        </p:nvSpPr>
        <p:spPr>
          <a:xfrm>
            <a:off x="4465080" y="3630240"/>
            <a:ext cx="209880" cy="237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Flow card 7"/>
          <p:cNvSpPr/>
          <p:nvPr/>
        </p:nvSpPr>
        <p:spPr>
          <a:xfrm>
            <a:off x="4723920" y="3063240"/>
            <a:ext cx="1828440" cy="13712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Step 7 badge"/>
          <p:cNvSpPr/>
          <p:nvPr/>
        </p:nvSpPr>
        <p:spPr>
          <a:xfrm>
            <a:off x="4861080" y="3163320"/>
            <a:ext cx="347040" cy="3470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Step 7 number"/>
          <p:cNvSpPr/>
          <p:nvPr/>
        </p:nvSpPr>
        <p:spPr>
          <a:xfrm>
            <a:off x="486108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600" b="1">
                <a:latin typeface="Calibri"/>
              </a:rPr>
              <a:t>7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Flow title 7"/>
          <p:cNvSpPr/>
          <p:nvPr/>
        </p:nvSpPr>
        <p:spPr>
          <a:xfrm>
            <a:off x="4861080" y="3593520"/>
            <a:ext cx="1599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000" b="1">
                <a:latin typeface="Calibri"/>
              </a:rPr>
              <a:t>Update and display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Flow text 7"/>
          <p:cNvSpPr/>
          <p:nvPr/>
        </p:nvSpPr>
        <p:spPr>
          <a:xfrm>
            <a:off x="4861080" y="3904560"/>
            <a:ext cx="15998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900" b="0">
                <a:latin typeface="Calibri"/>
              </a:rPr>
              <a:t>Save changes and show a result message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Flow arrow 7"/>
          <p:cNvSpPr/>
          <p:nvPr/>
        </p:nvSpPr>
        <p:spPr>
          <a:xfrm>
            <a:off x="6598440" y="3630240"/>
            <a:ext cx="209880" cy="237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Flow card 8"/>
          <p:cNvSpPr/>
          <p:nvPr/>
        </p:nvSpPr>
        <p:spPr>
          <a:xfrm>
            <a:off x="6856920" y="3063240"/>
            <a:ext cx="1828440" cy="137124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Step 8 badge"/>
          <p:cNvSpPr/>
          <p:nvPr/>
        </p:nvSpPr>
        <p:spPr>
          <a:xfrm>
            <a:off x="6994080" y="3182040"/>
            <a:ext cx="347040" cy="347040"/>
          </a:xfrm>
          <a:prstGeom prst="ellipse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Step 8 number"/>
          <p:cNvSpPr/>
          <p:nvPr/>
        </p:nvSpPr>
        <p:spPr>
          <a:xfrm>
            <a:off x="699408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600" b="1">
                <a:latin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Flow title 8"/>
          <p:cNvSpPr/>
          <p:nvPr/>
        </p:nvSpPr>
        <p:spPr>
          <a:xfrm>
            <a:off x="6994080" y="3593520"/>
            <a:ext cx="1599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100" b="1">
                <a:latin typeface="Calibri"/>
              </a:rPr>
              <a:t>Repeat / Exit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Flow text 8"/>
          <p:cNvSpPr/>
          <p:nvPr/>
        </p:nvSpPr>
        <p:spPr>
          <a:xfrm>
            <a:off x="6994080" y="3904560"/>
            <a:ext cx="15998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900" b="0">
                <a:latin typeface="Calibri"/>
              </a:rPr>
              <a:t>Return to the menu or choose Exit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sldNum" idx="10"/>
          </p:nvPr>
        </p:nvSpPr>
        <p:spPr>
          <a:xfrm>
            <a:off x="822960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2700" rIns="38100" bIns="127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86E63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latin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System Design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8" name="Input card"/>
          <p:cNvSpPr/>
          <p:nvPr/>
        </p:nvSpPr>
        <p:spPr>
          <a:xfrm>
            <a:off x="457200" y="1371600"/>
            <a:ext cx="2468520" cy="310860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Input icon badge"/>
          <p:cNvSpPr/>
          <p:nvPr/>
        </p:nvSpPr>
        <p:spPr>
          <a:xfrm>
            <a:off x="640080" y="1554480"/>
            <a:ext cx="456840" cy="4568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80" name="Input icon" descr="Input icon"/>
          <p:cNvPicPr/>
          <p:nvPr/>
        </p:nvPicPr>
        <p:blipFill>
          <a:blip r:embed="rId3"/>
          <a:stretch/>
        </p:blipFill>
        <p:spPr>
          <a:xfrm>
            <a:off x="754560" y="166896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Input heading"/>
          <p:cNvSpPr/>
          <p:nvPr/>
        </p:nvSpPr>
        <p:spPr>
          <a:xfrm>
            <a:off x="1234440" y="155448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Input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Input list"/>
          <p:cNvSpPr/>
          <p:nvPr/>
        </p:nvSpPr>
        <p:spPr>
          <a:xfrm>
            <a:off x="685800" y="2240280"/>
            <a:ext cx="205704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B130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Menu choice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Task description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Task ID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Design arrow 1"/>
          <p:cNvSpPr/>
          <p:nvPr/>
        </p:nvSpPr>
        <p:spPr>
          <a:xfrm>
            <a:off x="2999160" y="2788920"/>
            <a:ext cx="27396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4" name="Processing card"/>
          <p:cNvSpPr/>
          <p:nvPr/>
        </p:nvSpPr>
        <p:spPr>
          <a:xfrm>
            <a:off x="3337560" y="1371600"/>
            <a:ext cx="2468520" cy="3108600"/>
          </a:xfrm>
          <a:prstGeom prst="roundRect">
            <a:avLst>
              <a:gd name="adj" fmla="val 2963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Processing icon badge"/>
          <p:cNvSpPr/>
          <p:nvPr/>
        </p:nvSpPr>
        <p:spPr>
          <a:xfrm>
            <a:off x="3520440" y="1554480"/>
            <a:ext cx="456840" cy="456840"/>
          </a:xfrm>
          <a:prstGeom prst="ellipse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86" name="Processing icon" descr="Processing icon"/>
          <p:cNvPicPr/>
          <p:nvPr/>
        </p:nvPicPr>
        <p:blipFill>
          <a:blip r:embed="rId4"/>
          <a:stretch/>
        </p:blipFill>
        <p:spPr>
          <a:xfrm>
            <a:off x="3634920" y="166896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Processing heading"/>
          <p:cNvSpPr/>
          <p:nvPr/>
        </p:nvSpPr>
        <p:spPr>
          <a:xfrm>
            <a:off x="4114800" y="155448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Processing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rocessing list"/>
          <p:cNvSpPr/>
          <p:nvPr/>
        </p:nvSpPr>
        <p:spPr>
          <a:xfrm>
            <a:off x="3566160" y="2240280"/>
            <a:ext cx="205704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B130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Validate menu choice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Append new tasks to file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Read and display records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Rewrite records for updates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Design arrow 2"/>
          <p:cNvSpPr/>
          <p:nvPr/>
        </p:nvSpPr>
        <p:spPr>
          <a:xfrm>
            <a:off x="5879520" y="2788920"/>
            <a:ext cx="27396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0" name="Output card"/>
          <p:cNvSpPr/>
          <p:nvPr/>
        </p:nvSpPr>
        <p:spPr>
          <a:xfrm>
            <a:off x="6217920" y="1371600"/>
            <a:ext cx="2468520" cy="310860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" name="Output icon badge"/>
          <p:cNvSpPr/>
          <p:nvPr/>
        </p:nvSpPr>
        <p:spPr>
          <a:xfrm>
            <a:off x="6400800" y="1554480"/>
            <a:ext cx="456840" cy="4568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92" name="Output icon" descr="Output icon"/>
          <p:cNvPicPr/>
          <p:nvPr/>
        </p:nvPicPr>
        <p:blipFill>
          <a:blip r:embed="rId5"/>
          <a:stretch/>
        </p:blipFill>
        <p:spPr>
          <a:xfrm>
            <a:off x="6515280" y="166896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Output heading"/>
          <p:cNvSpPr/>
          <p:nvPr/>
        </p:nvSpPr>
        <p:spPr>
          <a:xfrm>
            <a:off x="6995160" y="155448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Output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Output list"/>
          <p:cNvSpPr/>
          <p:nvPr/>
        </p:nvSpPr>
        <p:spPr>
          <a:xfrm>
            <a:off x="6446520" y="2240280"/>
            <a:ext cx="205704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B130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Task IDs and descriptions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Pending / Completed status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Success or error messages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sldNum" idx="11"/>
          </p:nvPr>
        </p:nvSpPr>
        <p:spPr>
          <a:xfrm>
            <a:off x="822960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86E63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rgbClr val="586E63"/>
                </a:solidFill>
                <a:effectLst/>
                <a:uFillTx/>
                <a:latin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Task Status Criteria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Grade chip A+"/>
          <p:cNvSpPr/>
          <p:nvPr/>
        </p:nvSpPr>
        <p:spPr>
          <a:xfrm>
            <a:off x="457200" y="1371600"/>
            <a:ext cx="1051200" cy="219420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Grade letter A+"/>
          <p:cNvSpPr/>
          <p:nvPr/>
        </p:nvSpPr>
        <p:spPr>
          <a:xfrm>
            <a:off x="457200" y="1554480"/>
            <a:ext cx="10512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ID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Grade range A+"/>
          <p:cNvSpPr/>
          <p:nvPr/>
        </p:nvSpPr>
        <p:spPr>
          <a:xfrm>
            <a:off x="457200" y="228600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Unique number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Grade label A+"/>
          <p:cNvSpPr/>
          <p:nvPr/>
        </p:nvSpPr>
        <p:spPr>
          <a:xfrm>
            <a:off x="502920" y="2697480"/>
            <a:ext cx="959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Identifies a task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rade chip A"/>
          <p:cNvSpPr/>
          <p:nvPr/>
        </p:nvSpPr>
        <p:spPr>
          <a:xfrm>
            <a:off x="1653480" y="1371600"/>
            <a:ext cx="1051200" cy="219420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2" name="Grade letter A"/>
          <p:cNvSpPr/>
          <p:nvPr/>
        </p:nvSpPr>
        <p:spPr>
          <a:xfrm>
            <a:off x="1653480" y="1554480"/>
            <a:ext cx="10512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Pending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Grade range A"/>
          <p:cNvSpPr/>
          <p:nvPr/>
        </p:nvSpPr>
        <p:spPr>
          <a:xfrm>
            <a:off x="1653480" y="228600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Grade label A"/>
          <p:cNvSpPr/>
          <p:nvPr/>
        </p:nvSpPr>
        <p:spPr>
          <a:xfrm>
            <a:off x="1699200" y="2697480"/>
            <a:ext cx="959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Not completed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rade chip B"/>
          <p:cNvSpPr/>
          <p:nvPr/>
        </p:nvSpPr>
        <p:spPr>
          <a:xfrm>
            <a:off x="2849760" y="1371600"/>
            <a:ext cx="1051200" cy="2194200"/>
          </a:xfrm>
          <a:prstGeom prst="roundRect">
            <a:avLst>
              <a:gd name="adj" fmla="val 6957"/>
            </a:avLst>
          </a:prstGeom>
          <a:solidFill>
            <a:schemeClr val="accent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6" name="Grade letter B"/>
          <p:cNvSpPr/>
          <p:nvPr/>
        </p:nvSpPr>
        <p:spPr>
          <a:xfrm>
            <a:off x="2849760" y="1554480"/>
            <a:ext cx="10512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Done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Grade range B"/>
          <p:cNvSpPr/>
          <p:nvPr/>
        </p:nvSpPr>
        <p:spPr>
          <a:xfrm>
            <a:off x="2849760" y="228600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Grade label B"/>
          <p:cNvSpPr/>
          <p:nvPr/>
        </p:nvSpPr>
        <p:spPr>
          <a:xfrm>
            <a:off x="2895480" y="2697480"/>
            <a:ext cx="959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Completed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Grade chip C"/>
          <p:cNvSpPr/>
          <p:nvPr/>
        </p:nvSpPr>
        <p:spPr>
          <a:xfrm>
            <a:off x="4046040" y="1371600"/>
            <a:ext cx="1051200" cy="2194200"/>
          </a:xfrm>
          <a:prstGeom prst="roundRect">
            <a:avLst>
              <a:gd name="adj" fmla="val 6957"/>
            </a:avLst>
          </a:prstGeom>
          <a:solidFill>
            <a:schemeClr val="accent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0" name="Grade letter C"/>
          <p:cNvSpPr/>
          <p:nvPr/>
        </p:nvSpPr>
        <p:spPr>
          <a:xfrm>
            <a:off x="4046040" y="1554480"/>
            <a:ext cx="10512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Add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Grade range C"/>
          <p:cNvSpPr/>
          <p:nvPr/>
        </p:nvSpPr>
        <p:spPr>
          <a:xfrm>
            <a:off x="4046040" y="228600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Option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Grade label C"/>
          <p:cNvSpPr/>
          <p:nvPr/>
        </p:nvSpPr>
        <p:spPr>
          <a:xfrm>
            <a:off x="4091760" y="2697480"/>
            <a:ext cx="959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Create a task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Grade chip D"/>
          <p:cNvSpPr/>
          <p:nvPr/>
        </p:nvSpPr>
        <p:spPr>
          <a:xfrm>
            <a:off x="5242320" y="1371600"/>
            <a:ext cx="1051200" cy="2194200"/>
          </a:xfrm>
          <a:prstGeom prst="roundRect">
            <a:avLst>
              <a:gd name="adj" fmla="val 6957"/>
            </a:avLst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4" name="Grade letter D"/>
          <p:cNvSpPr/>
          <p:nvPr/>
        </p:nvSpPr>
        <p:spPr>
          <a:xfrm>
            <a:off x="5242320" y="1554480"/>
            <a:ext cx="10512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View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Grade range D"/>
          <p:cNvSpPr/>
          <p:nvPr/>
        </p:nvSpPr>
        <p:spPr>
          <a:xfrm>
            <a:off x="5242320" y="228600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Option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Grade label D"/>
          <p:cNvSpPr/>
          <p:nvPr/>
        </p:nvSpPr>
        <p:spPr>
          <a:xfrm>
            <a:off x="5288040" y="2697480"/>
            <a:ext cx="959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List saved tasks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Grade chip E"/>
          <p:cNvSpPr/>
          <p:nvPr/>
        </p:nvSpPr>
        <p:spPr>
          <a:xfrm>
            <a:off x="6438600" y="1371600"/>
            <a:ext cx="1051200" cy="2194200"/>
          </a:xfrm>
          <a:prstGeom prst="roundRect">
            <a:avLst>
              <a:gd name="adj" fmla="val 6957"/>
            </a:avLst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8" name="Grade letter E"/>
          <p:cNvSpPr/>
          <p:nvPr/>
        </p:nvSpPr>
        <p:spPr>
          <a:xfrm>
            <a:off x="6438600" y="1554480"/>
            <a:ext cx="10512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Complete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rade range E"/>
          <p:cNvSpPr/>
          <p:nvPr/>
        </p:nvSpPr>
        <p:spPr>
          <a:xfrm>
            <a:off x="6438600" y="228600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Option 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Grade label E"/>
          <p:cNvSpPr/>
          <p:nvPr/>
        </p:nvSpPr>
        <p:spPr>
          <a:xfrm>
            <a:off x="6484320" y="2697480"/>
            <a:ext cx="959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Update status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Grade chip F"/>
          <p:cNvSpPr/>
          <p:nvPr/>
        </p:nvSpPr>
        <p:spPr>
          <a:xfrm>
            <a:off x="7634880" y="1371600"/>
            <a:ext cx="1051200" cy="2194200"/>
          </a:xfrm>
          <a:prstGeom prst="roundRect">
            <a:avLst>
              <a:gd name="adj" fmla="val 6957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2" name="Grade letter F"/>
          <p:cNvSpPr/>
          <p:nvPr/>
        </p:nvSpPr>
        <p:spPr>
          <a:xfrm>
            <a:off x="7634880" y="1554480"/>
            <a:ext cx="10512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Delete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Grade range F"/>
          <p:cNvSpPr/>
          <p:nvPr/>
        </p:nvSpPr>
        <p:spPr>
          <a:xfrm>
            <a:off x="7634880" y="228600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Option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Grade label F"/>
          <p:cNvSpPr/>
          <p:nvPr/>
        </p:nvSpPr>
        <p:spPr>
          <a:xfrm>
            <a:off x="7680600" y="2697480"/>
            <a:ext cx="959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Remove a task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ule callout"/>
          <p:cNvSpPr/>
          <p:nvPr/>
        </p:nvSpPr>
        <p:spPr>
          <a:xfrm>
            <a:off x="457200" y="3794760"/>
            <a:ext cx="8229240" cy="68544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6" name="Warning icon badge"/>
          <p:cNvSpPr/>
          <p:nvPr/>
        </p:nvSpPr>
        <p:spPr>
          <a:xfrm>
            <a:off x="640080" y="3931920"/>
            <a:ext cx="411120" cy="41112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27" name="Warning icon" descr="Warning icon"/>
          <p:cNvPicPr/>
          <p:nvPr/>
        </p:nvPicPr>
        <p:blipFill>
          <a:blip r:embed="rId3"/>
          <a:stretch/>
        </p:blipFill>
        <p:spPr>
          <a:xfrm>
            <a:off x="743040" y="4034880"/>
            <a:ext cx="205560" cy="20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Rule text"/>
          <p:cNvSpPr/>
          <p:nvPr/>
        </p:nvSpPr>
        <p:spPr>
          <a:xfrm>
            <a:off x="1234440" y="3794760"/>
            <a:ext cx="73148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Each record is stored as ID|STATUS|DESCRIPTION in a text file. P means Pending; C means Completed.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sldNum" idx="12"/>
          </p:nvPr>
        </p:nvSpPr>
        <p:spPr>
          <a:xfrm>
            <a:off x="822960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86E63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rgbClr val="586E63"/>
                </a:solidFill>
                <a:effectLst/>
                <a:uFillTx/>
                <a:latin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Implementation Steps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1" name="Step 1 badge"/>
          <p:cNvSpPr/>
          <p:nvPr/>
        </p:nvSpPr>
        <p:spPr>
          <a:xfrm>
            <a:off x="457200" y="1508760"/>
            <a:ext cx="365400" cy="36540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2" name="Step 1 number"/>
          <p:cNvSpPr/>
          <p:nvPr/>
        </p:nvSpPr>
        <p:spPr>
          <a:xfrm>
            <a:off x="457200" y="15087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600" b="1">
                <a:latin typeface="Calibri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Impl step 1"/>
          <p:cNvSpPr/>
          <p:nvPr/>
        </p:nvSpPr>
        <p:spPr>
          <a:xfrm>
            <a:off x="1005840" y="137160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200" b="1">
                <a:latin typeface="Calibri"/>
              </a:rPr>
              <a:t>Create the project directory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Command box 1"/>
          <p:cNvSpPr/>
          <p:nvPr/>
        </p:nvSpPr>
        <p:spPr>
          <a:xfrm>
            <a:off x="4206240" y="1371600"/>
            <a:ext cx="4480200" cy="6397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5" name="Command text 1"/>
          <p:cNvSpPr/>
          <p:nvPr/>
        </p:nvSpPr>
        <p:spPr>
          <a:xfrm>
            <a:off x="4389120" y="1371600"/>
            <a:ext cx="4205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63500" tIns="38100" rIns="63500" bIns="381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100" b="0" dirty="0">
                <a:solidFill>
                  <a:srgbClr val="F5F7F5"/>
                </a:solidFill>
                <a:latin typeface="Courier New"/>
              </a:rPr>
              <a:t>$ </a:t>
            </a:r>
            <a:r>
              <a:rPr sz="1100" b="0" dirty="0" err="1">
                <a:solidFill>
                  <a:srgbClr val="F5F7F5"/>
                </a:solidFill>
                <a:latin typeface="Courier New"/>
              </a:rPr>
              <a:t>mkdir</a:t>
            </a:r>
            <a:r>
              <a:rPr sz="1100" b="0" dirty="0">
                <a:solidFill>
                  <a:srgbClr val="F5F7F5"/>
                </a:solidFill>
                <a:latin typeface="Courier New"/>
              </a:rPr>
              <a:t> -p "$HOME/T</a:t>
            </a:r>
            <a:r>
              <a:rPr lang="en-US" sz="1100" b="0" dirty="0">
                <a:solidFill>
                  <a:srgbClr val="F5F7F5"/>
                </a:solidFill>
                <a:latin typeface="Courier New"/>
              </a:rPr>
              <a:t>O_DO_LIST</a:t>
            </a:r>
            <a:r>
              <a:rPr sz="1100" b="0" dirty="0">
                <a:solidFill>
                  <a:srgbClr val="F5F7F5"/>
                </a:solidFill>
                <a:latin typeface="Courier New"/>
              </a:rPr>
              <a:t>"</a:t>
            </a:r>
            <a:endParaRPr lang="en-US" sz="1400" b="0" u="none" strike="noStrike" dirty="0">
              <a:solidFill>
                <a:schemeClr val="dk1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F5F7F5"/>
                </a:solidFill>
                <a:latin typeface="Courier New"/>
              </a:rPr>
              <a:t>$ cd "$HOME/T</a:t>
            </a:r>
            <a:r>
              <a:rPr lang="en-US" sz="1100" b="0" dirty="0">
                <a:solidFill>
                  <a:srgbClr val="F5F7F5"/>
                </a:solidFill>
                <a:latin typeface="Courier New"/>
              </a:rPr>
              <a:t>O_DO_LIST</a:t>
            </a:r>
            <a:r>
              <a:rPr sz="1100" b="0" dirty="0">
                <a:solidFill>
                  <a:srgbClr val="F5F7F5"/>
                </a:solidFill>
                <a:latin typeface="Courier New"/>
              </a:rPr>
              <a:t>"</a:t>
            </a:r>
          </a:p>
        </p:txBody>
      </p:sp>
      <p:sp>
        <p:nvSpPr>
          <p:cNvPr id="236" name="Step 2 badge"/>
          <p:cNvSpPr/>
          <p:nvPr/>
        </p:nvSpPr>
        <p:spPr>
          <a:xfrm>
            <a:off x="457200" y="2331720"/>
            <a:ext cx="365400" cy="36540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7" name="Step 2 number"/>
          <p:cNvSpPr/>
          <p:nvPr/>
        </p:nvSpPr>
        <p:spPr>
          <a:xfrm>
            <a:off x="457200" y="23317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600" b="1">
                <a:latin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Impl step 2"/>
          <p:cNvSpPr/>
          <p:nvPr/>
        </p:nvSpPr>
        <p:spPr>
          <a:xfrm>
            <a:off x="1005840" y="219456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200" b="1">
                <a:latin typeface="Calibri"/>
              </a:rPr>
              <a:t>Create the Bash script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Command box 2"/>
          <p:cNvSpPr/>
          <p:nvPr/>
        </p:nvSpPr>
        <p:spPr>
          <a:xfrm>
            <a:off x="4206240" y="2194560"/>
            <a:ext cx="4480200" cy="6397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" name="Command text 2"/>
          <p:cNvSpPr/>
          <p:nvPr/>
        </p:nvSpPr>
        <p:spPr>
          <a:xfrm>
            <a:off x="4389120" y="2194560"/>
            <a:ext cx="4205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63500" tIns="38100" rIns="63500" bIns="381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050" b="0" dirty="0">
                <a:solidFill>
                  <a:srgbClr val="F5F7F5"/>
                </a:solidFill>
                <a:latin typeface="Courier New"/>
              </a:rPr>
              <a:t>$ nano todo.sh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F5F7F5"/>
                </a:solidFill>
                <a:latin typeface="Courier New"/>
              </a:rPr>
              <a:t># Paste the source code and save</a:t>
            </a:r>
          </a:p>
        </p:txBody>
      </p:sp>
      <p:sp>
        <p:nvSpPr>
          <p:cNvPr id="241" name="Step 3 badge"/>
          <p:cNvSpPr/>
          <p:nvPr/>
        </p:nvSpPr>
        <p:spPr>
          <a:xfrm>
            <a:off x="457200" y="3154680"/>
            <a:ext cx="365400" cy="36540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2" name="Step 3 number"/>
          <p:cNvSpPr/>
          <p:nvPr/>
        </p:nvSpPr>
        <p:spPr>
          <a:xfrm>
            <a:off x="457200" y="31546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600" b="1">
                <a:latin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Impl step 3"/>
          <p:cNvSpPr/>
          <p:nvPr/>
        </p:nvSpPr>
        <p:spPr>
          <a:xfrm>
            <a:off x="1005840" y="301752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200" b="1">
                <a:latin typeface="Calibri"/>
              </a:rPr>
              <a:t>Give execute permission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Command box 3"/>
          <p:cNvSpPr/>
          <p:nvPr/>
        </p:nvSpPr>
        <p:spPr>
          <a:xfrm>
            <a:off x="4206240" y="3017520"/>
            <a:ext cx="4480200" cy="6397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5" name="Command text 3"/>
          <p:cNvSpPr/>
          <p:nvPr/>
        </p:nvSpPr>
        <p:spPr>
          <a:xfrm>
            <a:off x="4389120" y="3017520"/>
            <a:ext cx="4205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63500" tIns="38100" rIns="63500" bIns="381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200" b="0" dirty="0">
                <a:solidFill>
                  <a:srgbClr val="F5F7F5"/>
                </a:solidFill>
                <a:latin typeface="Courier New"/>
              </a:rPr>
              <a:t>$ </a:t>
            </a:r>
            <a:r>
              <a:rPr sz="1200" b="0" dirty="0" err="1">
                <a:solidFill>
                  <a:srgbClr val="F5F7F5"/>
                </a:solidFill>
                <a:latin typeface="Courier New"/>
              </a:rPr>
              <a:t>chmod</a:t>
            </a:r>
            <a:r>
              <a:rPr sz="1200" b="0" dirty="0">
                <a:solidFill>
                  <a:srgbClr val="F5F7F5"/>
                </a:solidFill>
                <a:latin typeface="Courier New"/>
              </a:rPr>
              <a:t> +x todo.sh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tep 4 badge"/>
          <p:cNvSpPr/>
          <p:nvPr/>
        </p:nvSpPr>
        <p:spPr>
          <a:xfrm>
            <a:off x="457200" y="3977640"/>
            <a:ext cx="365400" cy="36540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7" name="Step 4 number"/>
          <p:cNvSpPr/>
          <p:nvPr/>
        </p:nvSpPr>
        <p:spPr>
          <a:xfrm>
            <a:off x="457200" y="39776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600" b="1">
                <a:latin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Impl step 4"/>
          <p:cNvSpPr/>
          <p:nvPr/>
        </p:nvSpPr>
        <p:spPr>
          <a:xfrm>
            <a:off x="1005840" y="384048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200" b="1">
                <a:latin typeface="Calibri"/>
              </a:rPr>
              <a:t>Run the project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Command box 4"/>
          <p:cNvSpPr/>
          <p:nvPr/>
        </p:nvSpPr>
        <p:spPr>
          <a:xfrm>
            <a:off x="4206240" y="3840480"/>
            <a:ext cx="4480200" cy="6397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0" name="Command text 4"/>
          <p:cNvSpPr/>
          <p:nvPr/>
        </p:nvSpPr>
        <p:spPr>
          <a:xfrm>
            <a:off x="4389120" y="3840480"/>
            <a:ext cx="4205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63500" tIns="38100" rIns="63500" bIns="381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050" b="0" dirty="0">
                <a:solidFill>
                  <a:srgbClr val="F5F7F5"/>
                </a:solidFill>
                <a:latin typeface="Courier New"/>
              </a:rPr>
              <a:t>$ ./todo.sh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F5F7F5"/>
                </a:solidFill>
                <a:latin typeface="Courier New"/>
              </a:rPr>
              <a:t># Or run with: bash todo.sh</a:t>
            </a:r>
          </a:p>
        </p:txBody>
      </p:sp>
      <p:sp>
        <p:nvSpPr>
          <p:cNvPr id="251" name="PlaceHolder 2"/>
          <p:cNvSpPr>
            <a:spLocks noGrp="1"/>
          </p:cNvSpPr>
          <p:nvPr>
            <p:ph type="sldNum" idx="13"/>
          </p:nvPr>
        </p:nvSpPr>
        <p:spPr>
          <a:xfrm>
            <a:off x="822960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2700" rIns="38100" bIns="127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86E63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latin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Key Source Code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3" name="Input function panel"/>
          <p:cNvSpPr/>
          <p:nvPr/>
        </p:nvSpPr>
        <p:spPr>
          <a:xfrm>
            <a:off x="457200" y="1280160"/>
            <a:ext cx="4023000" cy="3245760"/>
          </a:xfrm>
          <a:prstGeom prst="roundRect">
            <a:avLst>
              <a:gd name="adj" fmla="val 2254"/>
            </a:avLst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4" name="Input function label"/>
          <p:cNvSpPr/>
          <p:nvPr/>
        </p:nvSpPr>
        <p:spPr>
          <a:xfrm>
            <a:off x="640080" y="13716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200" b="1">
                <a:latin typeface="Calibri"/>
              </a:rPr>
              <a:t>Task file &amp; menu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Input function code"/>
          <p:cNvSpPr/>
          <p:nvPr/>
        </p:nvSpPr>
        <p:spPr>
          <a:xfrm>
            <a:off x="640080" y="1719000"/>
            <a:ext cx="365724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63500" tIns="38100" rIns="63500" bIns="3810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670" b="0">
                <a:solidFill>
                  <a:srgbClr val="F5F7F5"/>
                </a:solidFill>
                <a:latin typeface="Courier New"/>
              </a:rPr>
              <a:t>#!/bin/bash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F5F7F5"/>
                </a:solidFill>
                <a:latin typeface="Courier New"/>
              </a:rPr>
              <a:t>TASK_FILE="$HOME/To-Do/tasks.txt"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670" b="0">
              <a:solidFill>
                <a:srgbClr val="F5F7F5"/>
              </a:solidFill>
              <a:latin typeface="Courier Ne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F5F7F5"/>
                </a:solidFill>
                <a:latin typeface="Courier New"/>
              </a:rPr>
              <a:t>if [ ! -f "$TASK_FILE" ]; then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F5F7F5"/>
                </a:solidFill>
                <a:latin typeface="Courier New"/>
              </a:rPr>
              <a:t>  mkdir -p "$HOME/To-Do"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F5F7F5"/>
                </a:solidFill>
                <a:latin typeface="Courier New"/>
              </a:rPr>
              <a:t>  touch "$TASK_FILE"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F5F7F5"/>
                </a:solidFill>
                <a:latin typeface="Courier New"/>
              </a:rPr>
              <a:t>fi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670" b="0">
              <a:solidFill>
                <a:srgbClr val="F5F7F5"/>
              </a:solidFill>
              <a:latin typeface="Courier Ne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F5F7F5"/>
                </a:solidFill>
                <a:latin typeface="Courier New"/>
              </a:rPr>
              <a:t>while true; do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F5F7F5"/>
                </a:solidFill>
                <a:latin typeface="Courier New"/>
              </a:rPr>
              <a:t>  echo "WELCOME TO To-Do"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F5F7F5"/>
                </a:solidFill>
                <a:latin typeface="Courier New"/>
              </a:rPr>
              <a:t>  [ -s "$TASK_FILE" ] &amp;&amp; cat -n "$TASK_FILE" ||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F5F7F5"/>
                </a:solidFill>
                <a:latin typeface="Courier New"/>
              </a:rPr>
              <a:t>    echo "No tasks yet."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F5F7F5"/>
                </a:solidFill>
                <a:latin typeface="Courier New"/>
              </a:rPr>
              <a:t>  echo "1. Add a New Task"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F5F7F5"/>
                </a:solidFill>
                <a:latin typeface="Courier New"/>
              </a:rPr>
              <a:t>  echo "2. Search for a Task"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F5F7F5"/>
                </a:solidFill>
                <a:latin typeface="Courier New"/>
              </a:rPr>
              <a:t>  echo "3. Mark Task as Completed"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F5F7F5"/>
                </a:solidFill>
                <a:latin typeface="Courier New"/>
              </a:rPr>
              <a:t>  echo "4. Delete a Task"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F5F7F5"/>
                </a:solidFill>
                <a:latin typeface="Courier New"/>
              </a:rPr>
              <a:t>  echo "5. View Task Statistics"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F5F7F5"/>
                </a:solidFill>
                <a:latin typeface="Courier New"/>
              </a:rPr>
              <a:t>  echo "6. Exit"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F5F7F5"/>
                </a:solidFill>
                <a:latin typeface="Courier New"/>
              </a:rPr>
              <a:t>  read -r -p "Enter your choice: " choice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F5F7F5"/>
                </a:solidFill>
                <a:latin typeface="Courier New"/>
              </a:rPr>
              <a:t>  case "$choice" in</a:t>
            </a:r>
          </a:p>
        </p:txBody>
      </p:sp>
      <p:sp>
        <p:nvSpPr>
          <p:cNvPr id="256" name="Grading logic panel"/>
          <p:cNvSpPr/>
          <p:nvPr/>
        </p:nvSpPr>
        <p:spPr>
          <a:xfrm>
            <a:off x="4663440" y="1280160"/>
            <a:ext cx="4023000" cy="3245760"/>
          </a:xfrm>
          <a:prstGeom prst="roundRect">
            <a:avLst>
              <a:gd name="adj" fmla="val 2254"/>
            </a:avLst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7" name="Grading logic label"/>
          <p:cNvSpPr/>
          <p:nvPr/>
        </p:nvSpPr>
        <p:spPr>
          <a:xfrm>
            <a:off x="4846320" y="13716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200" b="1">
                <a:latin typeface="Calibri"/>
              </a:rPr>
              <a:t>Task actions &amp; exit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Grading logic code"/>
          <p:cNvSpPr/>
          <p:nvPr/>
        </p:nvSpPr>
        <p:spPr>
          <a:xfrm>
            <a:off x="4846320" y="1719000"/>
            <a:ext cx="365724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63500" tIns="38100" rIns="63500" bIns="3810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610">
                <a:solidFill>
                  <a:srgbClr val="F5F7F5"/>
                </a:solidFill>
                <a:latin typeface="Courier New"/>
              </a:rPr>
              <a:t>1) read -r -p "Enter task: " task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   if [ -n "$task" ]; then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     echo "[ ] $task" &gt;&gt; "$TASK_FILE"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   else echo "Task cannot be empty."; fi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   ;;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3) read -r -p "Task number: " num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   total=$(wc -l &lt; "$TASK_FILE")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   if [[ "$num" =~ ^[0-9]+$ ]] &amp;&amp;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      (( num&gt;=1 &amp;&amp; num&lt;=total )); then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     sed -i "${num}s/^\[ \]/[✓]/" "$TASK_FILE"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   else echo "Invalid task number."; fi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   ;;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4) read -r -p "Task number: " num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   total=$(wc -l &lt; "$TASK_FILE")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   if [[ "$num" =~ ^[0-9]+$ ]] &amp;&amp;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      (( num&gt;=1 &amp;&amp; num&lt;=total )); then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     sed -i "${num}d" "$TASK_FILE"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   else echo "Invalid task number."; fi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   ;;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5) total=$(wc -l &lt; "$TASK_FILE")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   completed=$(grep -c '^\[✓\]' "$TASK_FILE")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   pending=$(grep -c '^\[ \]' "$TASK_FILE")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   echo "Total: $total Done: $completed Pending: $pending"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   ;;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6) echo "Thank you for using To-Do list!"; break ;;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*) echo "Invalid choice. Try again." ;;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esac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F5F7F5"/>
                </a:solidFill>
                <a:latin typeface="Courier New"/>
              </a:rPr>
              <a:t>done</a:t>
            </a:r>
          </a:p>
        </p:txBody>
      </p:sp>
      <p:sp>
        <p:nvSpPr>
          <p:cNvPr id="259" name="PlaceHolder 2"/>
          <p:cNvSpPr>
            <a:spLocks noGrp="1"/>
          </p:cNvSpPr>
          <p:nvPr>
            <p:ph type="sldNum" idx="14"/>
          </p:nvPr>
        </p:nvSpPr>
        <p:spPr>
          <a:xfrm>
            <a:off x="822960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2700" rIns="38100" bIns="127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86E63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latin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Sample Execution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1" name="Success run window"/>
          <p:cNvSpPr/>
          <p:nvPr/>
        </p:nvSpPr>
        <p:spPr>
          <a:xfrm>
            <a:off x="457200" y="1280160"/>
            <a:ext cx="4023000" cy="3245760"/>
          </a:xfrm>
          <a:prstGeom prst="roundRect">
            <a:avLst>
              <a:gd name="adj" fmla="val 2254"/>
            </a:avLst>
          </a:prstGeom>
          <a:solidFill>
            <a:schemeClr val="tx1"/>
          </a:solidFill>
          <a:ln w="9525">
            <a:solidFill>
              <a:srgbClr val="5C6F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2" name="Success run dot 1"/>
          <p:cNvSpPr/>
          <p:nvPr/>
        </p:nvSpPr>
        <p:spPr>
          <a:xfrm>
            <a:off x="621720" y="1408320"/>
            <a:ext cx="100080" cy="10008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3" name="Success run dot 2"/>
          <p:cNvSpPr/>
          <p:nvPr/>
        </p:nvSpPr>
        <p:spPr>
          <a:xfrm>
            <a:off x="804600" y="1408320"/>
            <a:ext cx="100080" cy="10008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4" name="Success run dot 3"/>
          <p:cNvSpPr/>
          <p:nvPr/>
        </p:nvSpPr>
        <p:spPr>
          <a:xfrm>
            <a:off x="987480" y="1408320"/>
            <a:ext cx="100080" cy="1000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5" name="Success run text"/>
          <p:cNvSpPr/>
          <p:nvPr/>
        </p:nvSpPr>
        <p:spPr>
          <a:xfrm>
            <a:off x="640080" y="1691640"/>
            <a:ext cx="3657240" cy="269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850" b="0">
                <a:latin typeface="Courier New"/>
              </a:rPr>
              <a:t>$ ./to_do.sh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latin typeface="Courier New"/>
              </a:rPr>
              <a:t>===== TASKORA: TO-DO LIST =====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latin typeface="Courier New"/>
              </a:rPr>
              <a:t>1) Add a New Task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latin typeface="Courier New"/>
              </a:rPr>
              <a:t>2) Search for a Task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latin typeface="Courier New"/>
              </a:rPr>
              <a:t>3) Mark Task as Completed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latin typeface="Courier New"/>
              </a:rPr>
              <a:t>4) Delete a Task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latin typeface="Courier New"/>
              </a:rPr>
              <a:t>5) View Task Statistics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latin typeface="Courier New"/>
              </a:rPr>
              <a:t>6) Exit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latin typeface="Courier New"/>
              </a:rPr>
              <a:t>Enter your choice: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latin typeface="Courier New"/>
              </a:rPr>
              <a:t>Enter your task: Submit Linux assignment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latin typeface="Courier New"/>
              </a:rPr>
              <a:t>Task added successfully!</a:t>
            </a:r>
          </a:p>
        </p:txBody>
      </p:sp>
      <p:sp>
        <p:nvSpPr>
          <p:cNvPr id="266" name="Invalid input run window"/>
          <p:cNvSpPr/>
          <p:nvPr/>
        </p:nvSpPr>
        <p:spPr>
          <a:xfrm>
            <a:off x="4663440" y="1280160"/>
            <a:ext cx="4023000" cy="137124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9525">
            <a:solidFill>
              <a:srgbClr val="5C6F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7" name="Invalid input run dot 1"/>
          <p:cNvSpPr/>
          <p:nvPr/>
        </p:nvSpPr>
        <p:spPr>
          <a:xfrm>
            <a:off x="4827960" y="1408320"/>
            <a:ext cx="100080" cy="10008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8" name="Invalid input run dot 2"/>
          <p:cNvSpPr/>
          <p:nvPr/>
        </p:nvSpPr>
        <p:spPr>
          <a:xfrm>
            <a:off x="5010840" y="1408320"/>
            <a:ext cx="100080" cy="10008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9" name="Invalid input run dot 3"/>
          <p:cNvSpPr/>
          <p:nvPr/>
        </p:nvSpPr>
        <p:spPr>
          <a:xfrm>
            <a:off x="5193720" y="1408320"/>
            <a:ext cx="100080" cy="1000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0" name="Invalid input run text"/>
          <p:cNvSpPr/>
          <p:nvPr/>
        </p:nvSpPr>
        <p:spPr>
          <a:xfrm>
            <a:off x="4846320" y="1691640"/>
            <a:ext cx="3657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850" b="0" dirty="0">
                <a:latin typeface="Courier New"/>
              </a:rPr>
              <a:t>Enter your choice: 2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latin typeface="Courier New"/>
              </a:rPr>
              <a:t>Enter a word to search for: Linux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latin typeface="Courier New"/>
              </a:rPr>
              <a:t>Search completed.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850" b="0" dirty="0">
              <a:latin typeface="Courier Ne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latin typeface="Courier New"/>
              </a:rPr>
              <a:t>Enter your choice: 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latin typeface="Courier New"/>
              </a:rPr>
              <a:t>Enter task number to complete: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latin typeface="Courier New"/>
              </a:rPr>
              <a:t>Task marked as completed!</a:t>
            </a:r>
          </a:p>
        </p:txBody>
      </p:sp>
      <p:sp>
        <p:nvSpPr>
          <p:cNvPr id="271" name="Invalid input caption"/>
          <p:cNvSpPr/>
          <p:nvPr/>
        </p:nvSpPr>
        <p:spPr>
          <a:xfrm>
            <a:off x="4663440" y="274320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950" b="0">
                <a:latin typeface="Calibri"/>
              </a:rPr>
              <a:t>The menu repeats after each action. Tasks are stored in tasks.txt and remain available when the script is run again.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Result stat card"/>
          <p:cNvSpPr/>
          <p:nvPr/>
        </p:nvSpPr>
        <p:spPr>
          <a:xfrm>
            <a:off x="4663440" y="3383280"/>
            <a:ext cx="4023000" cy="1142640"/>
          </a:xfrm>
          <a:prstGeom prst="roundRect">
            <a:avLst>
              <a:gd name="adj" fmla="val 64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3" name="Result stat"/>
          <p:cNvSpPr/>
          <p:nvPr/>
        </p:nvSpPr>
        <p:spPr>
          <a:xfrm>
            <a:off x="4846320" y="3474720"/>
            <a:ext cx="3657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1100" b="1">
                <a:latin typeface="Calibri"/>
              </a:rPr>
              <a:t>1 task saved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esult stat caption"/>
          <p:cNvSpPr/>
          <p:nvPr/>
        </p:nvSpPr>
        <p:spPr>
          <a:xfrm>
            <a:off x="4846320" y="41148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8100" tIns="12700" rIns="38100" bIns="127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</a:tabLst>
            </a:pPr>
            <a:r>
              <a:rPr sz="850" b="0">
                <a:latin typeface="Calibri"/>
              </a:rPr>
              <a:t>Saved locally  ·  Pending / Completed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sldNum" idx="15"/>
          </p:nvPr>
        </p:nvSpPr>
        <p:spPr>
          <a:xfrm>
            <a:off x="822960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86E63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rgbClr val="586E63"/>
                </a:solidFill>
                <a:effectLst/>
                <a:uFillTx/>
                <a:latin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2BD555-99D3-A8FC-EAC7-BF5B80711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291" y="1259550"/>
            <a:ext cx="4118818" cy="34953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7FE3ED-A03B-293F-17B1-BE29CC7B65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908" y="685620"/>
            <a:ext cx="4240051" cy="21447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rgbClr val="173025"/>
                </a:solidFill>
                <a:effectLst/>
                <a:uFillTx/>
                <a:latin typeface="Aptos Display"/>
              </a:rPr>
              <a:t>Testing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7" name="Rectangle 2"/>
          <p:cNvSpPr/>
          <p:nvPr/>
        </p:nvSpPr>
        <p:spPr>
          <a:xfrm>
            <a:off x="457200" y="1298520"/>
            <a:ext cx="658080" cy="420120"/>
          </a:xfrm>
          <a:prstGeom prst="rect">
            <a:avLst/>
          </a:prstGeom>
          <a:solidFill>
            <a:srgbClr val="17302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3"/>
          <p:cNvSpPr/>
          <p:nvPr/>
        </p:nvSpPr>
        <p:spPr>
          <a:xfrm>
            <a:off x="475560" y="1307520"/>
            <a:ext cx="6213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algn="ctr" defTabSz="914400">
              <a:lnSpc>
                <a:spcPct val="100000"/>
              </a:lnSpc>
              <a:spcAft>
                <a:spcPts val="99"/>
              </a:spcAf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Test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4"/>
          <p:cNvSpPr/>
          <p:nvPr/>
        </p:nvSpPr>
        <p:spPr>
          <a:xfrm>
            <a:off x="1115640" y="1298520"/>
            <a:ext cx="2148480" cy="420120"/>
          </a:xfrm>
          <a:prstGeom prst="rect">
            <a:avLst/>
          </a:prstGeom>
          <a:solidFill>
            <a:srgbClr val="17302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Box 5"/>
          <p:cNvSpPr/>
          <p:nvPr/>
        </p:nvSpPr>
        <p:spPr>
          <a:xfrm>
            <a:off x="1134000" y="1307520"/>
            <a:ext cx="2111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algn="ctr" defTabSz="914400">
              <a:lnSpc>
                <a:spcPct val="100000"/>
              </a:lnSpc>
              <a:spcAft>
                <a:spcPts val="99"/>
              </a:spcAf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Action / Input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ectangle 6"/>
          <p:cNvSpPr/>
          <p:nvPr/>
        </p:nvSpPr>
        <p:spPr>
          <a:xfrm>
            <a:off x="3264480" y="1298520"/>
            <a:ext cx="4525920" cy="420120"/>
          </a:xfrm>
          <a:prstGeom prst="rect">
            <a:avLst/>
          </a:prstGeom>
          <a:solidFill>
            <a:srgbClr val="17302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Box 7"/>
          <p:cNvSpPr/>
          <p:nvPr/>
        </p:nvSpPr>
        <p:spPr>
          <a:xfrm>
            <a:off x="3282840" y="1307520"/>
            <a:ext cx="44892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algn="ctr" defTabSz="914400">
              <a:lnSpc>
                <a:spcPct val="100000"/>
              </a:lnSpc>
              <a:spcAft>
                <a:spcPts val="99"/>
              </a:spcAf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Expected result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ectangle 8"/>
          <p:cNvSpPr/>
          <p:nvPr/>
        </p:nvSpPr>
        <p:spPr>
          <a:xfrm>
            <a:off x="457200" y="1719000"/>
            <a:ext cx="658080" cy="420120"/>
          </a:xfrm>
          <a:prstGeom prst="rect">
            <a:avLst/>
          </a:prstGeom>
          <a:solidFill>
            <a:srgbClr val="E8F3EB"/>
          </a:solidFill>
          <a:ln>
            <a:solidFill>
              <a:srgbClr val="CD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9"/>
          <p:cNvSpPr/>
          <p:nvPr/>
        </p:nvSpPr>
        <p:spPr>
          <a:xfrm>
            <a:off x="484560" y="1728360"/>
            <a:ext cx="6030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algn="ctr" defTabSz="914400">
              <a:lnSpc>
                <a:spcPct val="100000"/>
              </a:lnSpc>
              <a:spcAft>
                <a:spcPts val="99"/>
              </a:spcAft>
            </a:pPr>
            <a:r>
              <a:rPr lang="en-US" sz="920" b="1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1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ectangle 10"/>
          <p:cNvSpPr/>
          <p:nvPr/>
        </p:nvSpPr>
        <p:spPr>
          <a:xfrm>
            <a:off x="1115640" y="1719000"/>
            <a:ext cx="2148480" cy="420120"/>
          </a:xfrm>
          <a:prstGeom prst="rect">
            <a:avLst/>
          </a:prstGeom>
          <a:solidFill>
            <a:srgbClr val="E8F3EB"/>
          </a:solidFill>
          <a:ln>
            <a:solidFill>
              <a:srgbClr val="CD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TextBox 11"/>
          <p:cNvSpPr/>
          <p:nvPr/>
        </p:nvSpPr>
        <p:spPr>
          <a:xfrm>
            <a:off x="1143000" y="1728360"/>
            <a:ext cx="2093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920" b="0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Add valid task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Rectangle 12"/>
          <p:cNvSpPr/>
          <p:nvPr/>
        </p:nvSpPr>
        <p:spPr>
          <a:xfrm>
            <a:off x="3264480" y="1719000"/>
            <a:ext cx="4525920" cy="420120"/>
          </a:xfrm>
          <a:prstGeom prst="rect">
            <a:avLst/>
          </a:prstGeom>
          <a:solidFill>
            <a:srgbClr val="E8F3EB"/>
          </a:solidFill>
          <a:ln>
            <a:solidFill>
              <a:srgbClr val="CD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13"/>
          <p:cNvSpPr/>
          <p:nvPr/>
        </p:nvSpPr>
        <p:spPr>
          <a:xfrm>
            <a:off x="3291840" y="1728360"/>
            <a:ext cx="44712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920" b="0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Task is saved and a success message appears.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ectangle 14"/>
          <p:cNvSpPr/>
          <p:nvPr/>
        </p:nvSpPr>
        <p:spPr>
          <a:xfrm>
            <a:off x="457200" y="2139840"/>
            <a:ext cx="658080" cy="420120"/>
          </a:xfrm>
          <a:prstGeom prst="rect">
            <a:avLst/>
          </a:prstGeom>
          <a:solidFill>
            <a:srgbClr val="FFFFFF"/>
          </a:solidFill>
          <a:ln>
            <a:solidFill>
              <a:srgbClr val="CD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15"/>
          <p:cNvSpPr/>
          <p:nvPr/>
        </p:nvSpPr>
        <p:spPr>
          <a:xfrm>
            <a:off x="484560" y="2148840"/>
            <a:ext cx="6030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algn="ctr" defTabSz="914400">
              <a:lnSpc>
                <a:spcPct val="100000"/>
              </a:lnSpc>
              <a:spcAft>
                <a:spcPts val="99"/>
              </a:spcAft>
            </a:pPr>
            <a:r>
              <a:rPr lang="en-US" sz="920" b="1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2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Rectangle 16"/>
          <p:cNvSpPr/>
          <p:nvPr/>
        </p:nvSpPr>
        <p:spPr>
          <a:xfrm>
            <a:off x="1115640" y="2139840"/>
            <a:ext cx="2148480" cy="420120"/>
          </a:xfrm>
          <a:prstGeom prst="rect">
            <a:avLst/>
          </a:prstGeom>
          <a:solidFill>
            <a:srgbClr val="FFFFFF"/>
          </a:solidFill>
          <a:ln>
            <a:solidFill>
              <a:srgbClr val="CD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17"/>
          <p:cNvSpPr/>
          <p:nvPr/>
        </p:nvSpPr>
        <p:spPr>
          <a:xfrm>
            <a:off x="1143000" y="2148840"/>
            <a:ext cx="2093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920" b="0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View tasks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Rectangle 18"/>
          <p:cNvSpPr/>
          <p:nvPr/>
        </p:nvSpPr>
        <p:spPr>
          <a:xfrm>
            <a:off x="3264480" y="2139840"/>
            <a:ext cx="4525920" cy="420120"/>
          </a:xfrm>
          <a:prstGeom prst="rect">
            <a:avLst/>
          </a:prstGeom>
          <a:solidFill>
            <a:srgbClr val="FFFFFF"/>
          </a:solidFill>
          <a:ln>
            <a:solidFill>
              <a:srgbClr val="CD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Box 19"/>
          <p:cNvSpPr/>
          <p:nvPr/>
        </p:nvSpPr>
        <p:spPr>
          <a:xfrm>
            <a:off x="3291840" y="2148840"/>
            <a:ext cx="44712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920" b="0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Saved task ID, description and status are displayed.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Rectangle 20"/>
          <p:cNvSpPr/>
          <p:nvPr/>
        </p:nvSpPr>
        <p:spPr>
          <a:xfrm>
            <a:off x="457200" y="2560320"/>
            <a:ext cx="658080" cy="420120"/>
          </a:xfrm>
          <a:prstGeom prst="rect">
            <a:avLst/>
          </a:prstGeom>
          <a:solidFill>
            <a:srgbClr val="E8F3EB"/>
          </a:solidFill>
          <a:ln>
            <a:solidFill>
              <a:srgbClr val="CD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TextBox 21"/>
          <p:cNvSpPr/>
          <p:nvPr/>
        </p:nvSpPr>
        <p:spPr>
          <a:xfrm>
            <a:off x="484560" y="2569320"/>
            <a:ext cx="6030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algn="ctr" defTabSz="914400">
              <a:lnSpc>
                <a:spcPct val="100000"/>
              </a:lnSpc>
              <a:spcAft>
                <a:spcPts val="99"/>
              </a:spcAft>
            </a:pPr>
            <a:r>
              <a:rPr lang="en-US" sz="920" b="1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3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Rectangle 22"/>
          <p:cNvSpPr/>
          <p:nvPr/>
        </p:nvSpPr>
        <p:spPr>
          <a:xfrm>
            <a:off x="1115640" y="2560320"/>
            <a:ext cx="2148480" cy="420120"/>
          </a:xfrm>
          <a:prstGeom prst="rect">
            <a:avLst/>
          </a:prstGeom>
          <a:solidFill>
            <a:srgbClr val="E8F3EB"/>
          </a:solidFill>
          <a:ln>
            <a:solidFill>
              <a:srgbClr val="CD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23"/>
          <p:cNvSpPr/>
          <p:nvPr/>
        </p:nvSpPr>
        <p:spPr>
          <a:xfrm>
            <a:off x="1143000" y="2569320"/>
            <a:ext cx="2093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920" b="0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Complete an existing task ID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Rectangle 24"/>
          <p:cNvSpPr/>
          <p:nvPr/>
        </p:nvSpPr>
        <p:spPr>
          <a:xfrm>
            <a:off x="3264480" y="2560320"/>
            <a:ext cx="4525920" cy="420120"/>
          </a:xfrm>
          <a:prstGeom prst="rect">
            <a:avLst/>
          </a:prstGeom>
          <a:solidFill>
            <a:srgbClr val="E8F3EB"/>
          </a:solidFill>
          <a:ln>
            <a:solidFill>
              <a:srgbClr val="CD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TextBox 25"/>
          <p:cNvSpPr/>
          <p:nvPr/>
        </p:nvSpPr>
        <p:spPr>
          <a:xfrm>
            <a:off x="3291840" y="2569320"/>
            <a:ext cx="44712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920" b="0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That task status changes to Completed.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Rectangle 26"/>
          <p:cNvSpPr/>
          <p:nvPr/>
        </p:nvSpPr>
        <p:spPr>
          <a:xfrm>
            <a:off x="457200" y="2980800"/>
            <a:ext cx="658080" cy="420120"/>
          </a:xfrm>
          <a:prstGeom prst="rect">
            <a:avLst/>
          </a:prstGeom>
          <a:solidFill>
            <a:srgbClr val="FFFFFF"/>
          </a:solidFill>
          <a:ln>
            <a:solidFill>
              <a:srgbClr val="CD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TextBox 27"/>
          <p:cNvSpPr/>
          <p:nvPr/>
        </p:nvSpPr>
        <p:spPr>
          <a:xfrm>
            <a:off x="484560" y="2990160"/>
            <a:ext cx="6030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algn="ctr" defTabSz="914400">
              <a:lnSpc>
                <a:spcPct val="100000"/>
              </a:lnSpc>
              <a:spcAft>
                <a:spcPts val="99"/>
              </a:spcAft>
            </a:pPr>
            <a:r>
              <a:rPr lang="en-US" sz="920" b="1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4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Rectangle 28"/>
          <p:cNvSpPr/>
          <p:nvPr/>
        </p:nvSpPr>
        <p:spPr>
          <a:xfrm>
            <a:off x="1115640" y="2980800"/>
            <a:ext cx="2148480" cy="420120"/>
          </a:xfrm>
          <a:prstGeom prst="rect">
            <a:avLst/>
          </a:prstGeom>
          <a:solidFill>
            <a:srgbClr val="FFFFFF"/>
          </a:solidFill>
          <a:ln>
            <a:solidFill>
              <a:srgbClr val="CD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29"/>
          <p:cNvSpPr/>
          <p:nvPr/>
        </p:nvSpPr>
        <p:spPr>
          <a:xfrm>
            <a:off x="1143000" y="2990160"/>
            <a:ext cx="2093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920" b="0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Delete an existing task ID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Rectangle 30"/>
          <p:cNvSpPr/>
          <p:nvPr/>
        </p:nvSpPr>
        <p:spPr>
          <a:xfrm>
            <a:off x="3264480" y="2980800"/>
            <a:ext cx="4525920" cy="420120"/>
          </a:xfrm>
          <a:prstGeom prst="rect">
            <a:avLst/>
          </a:prstGeom>
          <a:solidFill>
            <a:srgbClr val="FFFFFF"/>
          </a:solidFill>
          <a:ln>
            <a:solidFill>
              <a:srgbClr val="CD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TextBox 31"/>
          <p:cNvSpPr/>
          <p:nvPr/>
        </p:nvSpPr>
        <p:spPr>
          <a:xfrm>
            <a:off x="3291840" y="2990160"/>
            <a:ext cx="44712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920" b="0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The selected task is removed from the list.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Rectangle 32"/>
          <p:cNvSpPr/>
          <p:nvPr/>
        </p:nvSpPr>
        <p:spPr>
          <a:xfrm>
            <a:off x="457200" y="3401640"/>
            <a:ext cx="658080" cy="420120"/>
          </a:xfrm>
          <a:prstGeom prst="rect">
            <a:avLst/>
          </a:prstGeom>
          <a:solidFill>
            <a:srgbClr val="E8F3EB"/>
          </a:solidFill>
          <a:ln>
            <a:solidFill>
              <a:srgbClr val="CD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Box 33"/>
          <p:cNvSpPr/>
          <p:nvPr/>
        </p:nvSpPr>
        <p:spPr>
          <a:xfrm>
            <a:off x="484560" y="3410640"/>
            <a:ext cx="6030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algn="ctr" defTabSz="914400">
              <a:lnSpc>
                <a:spcPct val="100000"/>
              </a:lnSpc>
              <a:spcAft>
                <a:spcPts val="99"/>
              </a:spcAft>
            </a:pPr>
            <a:r>
              <a:rPr lang="en-US" sz="920" b="1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5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ectangle 34"/>
          <p:cNvSpPr/>
          <p:nvPr/>
        </p:nvSpPr>
        <p:spPr>
          <a:xfrm>
            <a:off x="1115640" y="3401640"/>
            <a:ext cx="2148480" cy="420120"/>
          </a:xfrm>
          <a:prstGeom prst="rect">
            <a:avLst/>
          </a:prstGeom>
          <a:solidFill>
            <a:srgbClr val="E8F3EB"/>
          </a:solidFill>
          <a:ln>
            <a:solidFill>
              <a:srgbClr val="CD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TextBox 35"/>
          <p:cNvSpPr/>
          <p:nvPr/>
        </p:nvSpPr>
        <p:spPr>
          <a:xfrm>
            <a:off x="1143000" y="3410640"/>
            <a:ext cx="2093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920" b="0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Empty list / empty task / invalid choice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ectangle 36"/>
          <p:cNvSpPr/>
          <p:nvPr/>
        </p:nvSpPr>
        <p:spPr>
          <a:xfrm>
            <a:off x="3264480" y="3401640"/>
            <a:ext cx="4525920" cy="420120"/>
          </a:xfrm>
          <a:prstGeom prst="rect">
            <a:avLst/>
          </a:prstGeom>
          <a:solidFill>
            <a:srgbClr val="E8F3EB"/>
          </a:solidFill>
          <a:ln>
            <a:solidFill>
              <a:srgbClr val="CD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37"/>
          <p:cNvSpPr/>
          <p:nvPr/>
        </p:nvSpPr>
        <p:spPr>
          <a:xfrm>
            <a:off x="3291840" y="3410640"/>
            <a:ext cx="44712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920" b="0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Helpful message is shown; no invalid task is saved.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Rectangle 38"/>
          <p:cNvSpPr/>
          <p:nvPr/>
        </p:nvSpPr>
        <p:spPr>
          <a:xfrm>
            <a:off x="457200" y="3822120"/>
            <a:ext cx="658080" cy="420120"/>
          </a:xfrm>
          <a:prstGeom prst="rect">
            <a:avLst/>
          </a:prstGeom>
          <a:solidFill>
            <a:srgbClr val="FFFFFF"/>
          </a:solidFill>
          <a:ln>
            <a:solidFill>
              <a:srgbClr val="CD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39"/>
          <p:cNvSpPr/>
          <p:nvPr/>
        </p:nvSpPr>
        <p:spPr>
          <a:xfrm>
            <a:off x="484560" y="3831480"/>
            <a:ext cx="6030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algn="ctr" defTabSz="914400">
              <a:lnSpc>
                <a:spcPct val="100000"/>
              </a:lnSpc>
              <a:spcAft>
                <a:spcPts val="99"/>
              </a:spcAft>
            </a:pPr>
            <a:r>
              <a:rPr lang="en-US" sz="920" b="1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6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Rectangle 40"/>
          <p:cNvSpPr/>
          <p:nvPr/>
        </p:nvSpPr>
        <p:spPr>
          <a:xfrm>
            <a:off x="1115640" y="3822120"/>
            <a:ext cx="2148480" cy="420120"/>
          </a:xfrm>
          <a:prstGeom prst="rect">
            <a:avLst/>
          </a:prstGeom>
          <a:solidFill>
            <a:srgbClr val="FFFFFF"/>
          </a:solidFill>
          <a:ln>
            <a:solidFill>
              <a:srgbClr val="CD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TextBox 41"/>
          <p:cNvSpPr/>
          <p:nvPr/>
        </p:nvSpPr>
        <p:spPr>
          <a:xfrm>
            <a:off x="1143000" y="3831480"/>
            <a:ext cx="2093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920" b="0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Exit and run the script again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Rectangle 42"/>
          <p:cNvSpPr/>
          <p:nvPr/>
        </p:nvSpPr>
        <p:spPr>
          <a:xfrm>
            <a:off x="3264480" y="3822120"/>
            <a:ext cx="4525920" cy="420120"/>
          </a:xfrm>
          <a:prstGeom prst="rect">
            <a:avLst/>
          </a:prstGeom>
          <a:solidFill>
            <a:srgbClr val="FFFFFF"/>
          </a:solidFill>
          <a:ln>
            <a:solidFill>
              <a:srgbClr val="CD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Box 43"/>
          <p:cNvSpPr/>
          <p:nvPr/>
        </p:nvSpPr>
        <p:spPr>
          <a:xfrm>
            <a:off x="3291840" y="3831480"/>
            <a:ext cx="44712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920" b="0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Previously saved tasks are still available.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Rounded Rectangle 44"/>
          <p:cNvSpPr/>
          <p:nvPr/>
        </p:nvSpPr>
        <p:spPr>
          <a:xfrm>
            <a:off x="457200" y="4343400"/>
            <a:ext cx="7360560" cy="438480"/>
          </a:xfrm>
          <a:prstGeom prst="roundRect">
            <a:avLst>
              <a:gd name="adj" fmla="val 16667"/>
            </a:avLst>
          </a:prstGeom>
          <a:solidFill>
            <a:srgbClr val="E8F3EB"/>
          </a:solidFill>
          <a:ln>
            <a:solidFill>
              <a:srgbClr val="E8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TextBox 45"/>
          <p:cNvSpPr/>
          <p:nvPr/>
        </p:nvSpPr>
        <p:spPr>
          <a:xfrm>
            <a:off x="621720" y="4370760"/>
            <a:ext cx="7040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1000" b="0" u="none" strike="noStrike">
                <a:solidFill>
                  <a:srgbClr val="173025"/>
                </a:solidFill>
                <a:effectLst/>
                <a:uFillTx/>
                <a:latin typeface="Aptos"/>
              </a:rPr>
              <a:t>Testing checks the main operations, input handling, and saving tasks between runs.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rgbClr val="173025"/>
                </a:solidFill>
                <a:effectLst/>
                <a:uFillTx/>
                <a:latin typeface="Aptos Display"/>
              </a:rPr>
              <a:t>Project Modules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2" name="Rounded Rectangle 2"/>
          <p:cNvSpPr/>
          <p:nvPr/>
        </p:nvSpPr>
        <p:spPr>
          <a:xfrm>
            <a:off x="457200" y="1325880"/>
            <a:ext cx="3794400" cy="3309840"/>
          </a:xfrm>
          <a:prstGeom prst="roundRect">
            <a:avLst>
              <a:gd name="adj" fmla="val 16667"/>
            </a:avLst>
          </a:prstGeom>
          <a:solidFill>
            <a:srgbClr val="E8F3EB"/>
          </a:solidFill>
          <a:ln>
            <a:solidFill>
              <a:srgbClr val="E8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Rounded Rectangle 3"/>
          <p:cNvSpPr/>
          <p:nvPr/>
        </p:nvSpPr>
        <p:spPr>
          <a:xfrm>
            <a:off x="4892040" y="1325880"/>
            <a:ext cx="3794400" cy="3309840"/>
          </a:xfrm>
          <a:prstGeom prst="roundRect">
            <a:avLst>
              <a:gd name="adj" fmla="val 16667"/>
            </a:avLst>
          </a:prstGeom>
          <a:solidFill>
            <a:srgbClr val="E8F3EB"/>
          </a:solidFill>
          <a:ln>
            <a:solidFill>
              <a:srgbClr val="E8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Box 4"/>
          <p:cNvSpPr/>
          <p:nvPr/>
        </p:nvSpPr>
        <p:spPr>
          <a:xfrm>
            <a:off x="713160" y="155448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1600" b="1" u="none" strike="noStrike">
                <a:solidFill>
                  <a:srgbClr val="173025"/>
                </a:solidFill>
                <a:effectLst/>
                <a:uFillTx/>
                <a:latin typeface="Aptos"/>
              </a:rPr>
              <a:t>1. Task Input &amp; Menu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5"/>
          <p:cNvSpPr/>
          <p:nvPr/>
        </p:nvSpPr>
        <p:spPr>
          <a:xfrm>
            <a:off x="713160" y="2030040"/>
            <a:ext cx="3245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950" b="1" u="none" strike="noStrike">
                <a:solidFill>
                  <a:srgbClr val="197E49"/>
                </a:solidFill>
                <a:effectLst/>
                <a:uFillTx/>
                <a:latin typeface="Aptos"/>
              </a:rPr>
              <a:t>CORE FUNCTIONS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6"/>
          <p:cNvSpPr/>
          <p:nvPr/>
        </p:nvSpPr>
        <p:spPr>
          <a:xfrm>
            <a:off x="713160" y="2286000"/>
            <a:ext cx="3245760" cy="117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1100" b="0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• Display menu options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1100" b="0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• Read and validate the user choice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1100" b="0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• Accept task descriptions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1100" b="0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• Reject empty task input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Rounded Rectangle 7"/>
          <p:cNvSpPr/>
          <p:nvPr/>
        </p:nvSpPr>
        <p:spPr>
          <a:xfrm>
            <a:off x="658440" y="3703320"/>
            <a:ext cx="3401280" cy="69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Box 8"/>
          <p:cNvSpPr/>
          <p:nvPr/>
        </p:nvSpPr>
        <p:spPr>
          <a:xfrm>
            <a:off x="804600" y="3749040"/>
            <a:ext cx="31086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950" b="0" u="none" strike="noStrike">
                <a:solidFill>
                  <a:srgbClr val="173025"/>
                </a:solidFill>
                <a:effectLst/>
                <a:uFillTx/>
                <a:latin typeface="Aptos"/>
              </a:rPr>
              <a:t>DELIVERABLES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950" b="0" u="none" strike="noStrike">
                <a:solidFill>
                  <a:srgbClr val="173025"/>
                </a:solidFill>
                <a:effectLst/>
                <a:uFillTx/>
                <a:latin typeface="Aptos"/>
              </a:rPr>
              <a:t>Menu-driven Bash interface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950" b="0" u="none" strike="noStrike">
                <a:solidFill>
                  <a:srgbClr val="173025"/>
                </a:solidFill>
                <a:effectLst/>
                <a:uFillTx/>
                <a:latin typeface="Aptos"/>
              </a:rPr>
              <a:t>Validated task input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9"/>
          <p:cNvSpPr/>
          <p:nvPr/>
        </p:nvSpPr>
        <p:spPr>
          <a:xfrm>
            <a:off x="5148000" y="1554480"/>
            <a:ext cx="3245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1500" b="1" u="none" strike="noStrike">
                <a:solidFill>
                  <a:srgbClr val="173025"/>
                </a:solidFill>
                <a:effectLst/>
                <a:uFillTx/>
                <a:latin typeface="Aptos"/>
              </a:rPr>
              <a:t>2. Task &amp; File Management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10"/>
          <p:cNvSpPr/>
          <p:nvPr/>
        </p:nvSpPr>
        <p:spPr>
          <a:xfrm>
            <a:off x="5148000" y="2030040"/>
            <a:ext cx="3245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950" b="1" u="none" strike="noStrike">
                <a:solidFill>
                  <a:srgbClr val="197E49"/>
                </a:solidFill>
                <a:effectLst/>
                <a:uFillTx/>
                <a:latin typeface="Aptos"/>
              </a:rPr>
              <a:t>CORE FUNCTIONS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11"/>
          <p:cNvSpPr/>
          <p:nvPr/>
        </p:nvSpPr>
        <p:spPr>
          <a:xfrm>
            <a:off x="5148000" y="2286000"/>
            <a:ext cx="3245760" cy="117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1050" b="0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• Add, view, complete and delete tasks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1050" b="0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• Assign task IDs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1050" b="0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• Store records in tasks.txt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1050" b="0" u="none" strike="noStrike">
                <a:solidFill>
                  <a:srgbClr val="19231D"/>
                </a:solidFill>
                <a:effectLst/>
                <a:uFillTx/>
                <a:latin typeface="Aptos"/>
              </a:rPr>
              <a:t>• Update and display task status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Rounded Rectangle 12"/>
          <p:cNvSpPr/>
          <p:nvPr/>
        </p:nvSpPr>
        <p:spPr>
          <a:xfrm>
            <a:off x="5093280" y="3703320"/>
            <a:ext cx="3401280" cy="69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TextBox 13"/>
          <p:cNvSpPr/>
          <p:nvPr/>
        </p:nvSpPr>
        <p:spPr>
          <a:xfrm>
            <a:off x="5239440" y="3749040"/>
            <a:ext cx="31086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27360" rIns="73080" bIns="1836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950" b="0" u="none" strike="noStrike">
                <a:solidFill>
                  <a:srgbClr val="173025"/>
                </a:solidFill>
                <a:effectLst/>
                <a:uFillTx/>
                <a:latin typeface="Aptos"/>
              </a:rPr>
              <a:t>DELIVERABLES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950" b="0" u="none" strike="noStrike">
                <a:solidFill>
                  <a:srgbClr val="173025"/>
                </a:solidFill>
                <a:effectLst/>
                <a:uFillTx/>
                <a:latin typeface="Aptos"/>
              </a:rPr>
              <a:t>Task storage file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950" b="0" u="none" strike="noStrike">
                <a:solidFill>
                  <a:srgbClr val="173025"/>
                </a:solidFill>
                <a:effectLst/>
                <a:uFillTx/>
                <a:latin typeface="Aptos"/>
              </a:rPr>
              <a:t>Task status and record updates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Advantages &amp; Limitations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5" name="Advantages card"/>
          <p:cNvSpPr/>
          <p:nvPr/>
        </p:nvSpPr>
        <p:spPr>
          <a:xfrm>
            <a:off x="457200" y="1371600"/>
            <a:ext cx="4571640" cy="310860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6" name="Advantages icon badge"/>
          <p:cNvSpPr/>
          <p:nvPr/>
        </p:nvSpPr>
        <p:spPr>
          <a:xfrm>
            <a:off x="685800" y="1554480"/>
            <a:ext cx="456840" cy="4568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37" name="Advantages icon" descr="Advantages icon"/>
          <p:cNvPicPr/>
          <p:nvPr/>
        </p:nvPicPr>
        <p:blipFill>
          <a:blip r:embed="rId3"/>
          <a:stretch/>
        </p:blipFill>
        <p:spPr>
          <a:xfrm>
            <a:off x="800280" y="166896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Advantages heading"/>
          <p:cNvSpPr/>
          <p:nvPr/>
        </p:nvSpPr>
        <p:spPr>
          <a:xfrm>
            <a:off x="1280160" y="155448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Advantages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Advantages list"/>
          <p:cNvSpPr/>
          <p:nvPr/>
        </p:nvSpPr>
        <p:spPr>
          <a:xfrm>
            <a:off x="685800" y="2240280"/>
            <a:ext cx="411444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B130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Beginner-friendly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Runs in the Linux terminal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Saves tasks between sessions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Demonstrates Bash functions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 database required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Limitations card"/>
          <p:cNvSpPr/>
          <p:nvPr/>
        </p:nvSpPr>
        <p:spPr>
          <a:xfrm>
            <a:off x="5303520" y="1371600"/>
            <a:ext cx="3382920" cy="310860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1" name="Limitations icon badge"/>
          <p:cNvSpPr/>
          <p:nvPr/>
        </p:nvSpPr>
        <p:spPr>
          <a:xfrm>
            <a:off x="5532120" y="1554480"/>
            <a:ext cx="456840" cy="45684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42" name="Limitations icon" descr="Limitations icon"/>
          <p:cNvPicPr/>
          <p:nvPr/>
        </p:nvPicPr>
        <p:blipFill>
          <a:blip r:embed="rId4"/>
          <a:stretch/>
        </p:blipFill>
        <p:spPr>
          <a:xfrm>
            <a:off x="5646600" y="166896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Limitations heading"/>
          <p:cNvSpPr/>
          <p:nvPr/>
        </p:nvSpPr>
        <p:spPr>
          <a:xfrm>
            <a:off x="6126480" y="155448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Limitations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Limitations list"/>
          <p:cNvSpPr/>
          <p:nvPr/>
        </p:nvSpPr>
        <p:spPr>
          <a:xfrm>
            <a:off x="5532120" y="2240280"/>
            <a:ext cx="292572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B130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Text-only interface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One local data file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 due dates or reminders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Not designed for multiple users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sldNum" idx="16"/>
          </p:nvPr>
        </p:nvSpPr>
        <p:spPr>
          <a:xfrm>
            <a:off x="822960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86E63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rgbClr val="586E63"/>
                </a:solidFill>
                <a:effectLst/>
                <a:uFillTx/>
                <a:latin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Future Enhancements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7" name="Future card 1"/>
          <p:cNvSpPr/>
          <p:nvPr/>
        </p:nvSpPr>
        <p:spPr>
          <a:xfrm>
            <a:off x="457200" y="1371600"/>
            <a:ext cx="4023000" cy="14169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8" name="Persistent storage icon badge"/>
          <p:cNvSpPr/>
          <p:nvPr/>
        </p:nvSpPr>
        <p:spPr>
          <a:xfrm>
            <a:off x="685800" y="1801440"/>
            <a:ext cx="548280" cy="54828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49" name="Persistent storage icon" descr="Persistent storage icon"/>
          <p:cNvPicPr/>
          <p:nvPr/>
        </p:nvPicPr>
        <p:blipFill>
          <a:blip r:embed="rId3"/>
          <a:stretch/>
        </p:blipFill>
        <p:spPr>
          <a:xfrm>
            <a:off x="822960" y="19386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" name="Future title 1"/>
          <p:cNvSpPr/>
          <p:nvPr/>
        </p:nvSpPr>
        <p:spPr>
          <a:xfrm>
            <a:off x="1463040" y="1600200"/>
            <a:ext cx="2880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Due dates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Future text 1"/>
          <p:cNvSpPr/>
          <p:nvPr/>
        </p:nvSpPr>
        <p:spPr>
          <a:xfrm>
            <a:off x="1463040" y="203004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Add deadlines and priority levels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Future card 2"/>
          <p:cNvSpPr/>
          <p:nvPr/>
        </p:nvSpPr>
        <p:spPr>
          <a:xfrm>
            <a:off x="4663440" y="1371600"/>
            <a:ext cx="4023000" cy="14169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3" name="Multiple students icon badge"/>
          <p:cNvSpPr/>
          <p:nvPr/>
        </p:nvSpPr>
        <p:spPr>
          <a:xfrm>
            <a:off x="4892040" y="1801440"/>
            <a:ext cx="548280" cy="54828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54" name="Multiple students icon" descr="Multiple students icon"/>
          <p:cNvPicPr/>
          <p:nvPr/>
        </p:nvPicPr>
        <p:blipFill>
          <a:blip r:embed="rId4"/>
          <a:stretch/>
        </p:blipFill>
        <p:spPr>
          <a:xfrm>
            <a:off x="5029200" y="19386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Future title 2"/>
          <p:cNvSpPr/>
          <p:nvPr/>
        </p:nvSpPr>
        <p:spPr>
          <a:xfrm>
            <a:off x="5669280" y="1600200"/>
            <a:ext cx="2880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Search and filter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Future text 2"/>
          <p:cNvSpPr/>
          <p:nvPr/>
        </p:nvSpPr>
        <p:spPr>
          <a:xfrm>
            <a:off x="5669280" y="203004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Find tasks by keyword or status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Future card 3"/>
          <p:cNvSpPr/>
          <p:nvPr/>
        </p:nvSpPr>
        <p:spPr>
          <a:xfrm>
            <a:off x="457200" y="3017520"/>
            <a:ext cx="4023000" cy="14169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8" name="Menu-driven options icon badge"/>
          <p:cNvSpPr/>
          <p:nvPr/>
        </p:nvSpPr>
        <p:spPr>
          <a:xfrm>
            <a:off x="685800" y="3447360"/>
            <a:ext cx="548280" cy="54828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59" name="Menu-driven options icon" descr="Menu-driven options icon"/>
          <p:cNvPicPr/>
          <p:nvPr/>
        </p:nvPicPr>
        <p:blipFill>
          <a:blip r:embed="rId5"/>
          <a:stretch/>
        </p:blipFill>
        <p:spPr>
          <a:xfrm>
            <a:off x="822960" y="35845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0" name="Future title 3"/>
          <p:cNvSpPr/>
          <p:nvPr/>
        </p:nvSpPr>
        <p:spPr>
          <a:xfrm>
            <a:off x="1463040" y="3246120"/>
            <a:ext cx="2880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Categories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Future text 3"/>
          <p:cNvSpPr/>
          <p:nvPr/>
        </p:nvSpPr>
        <p:spPr>
          <a:xfrm>
            <a:off x="1463040" y="367596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Group tasks by subject or project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Future card 4"/>
          <p:cNvSpPr/>
          <p:nvPr/>
        </p:nvSpPr>
        <p:spPr>
          <a:xfrm>
            <a:off x="4663440" y="3017520"/>
            <a:ext cx="4023000" cy="14169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3" name="Automatic reports icon badge"/>
          <p:cNvSpPr/>
          <p:nvPr/>
        </p:nvSpPr>
        <p:spPr>
          <a:xfrm>
            <a:off x="4892040" y="3447360"/>
            <a:ext cx="548280" cy="54828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64" name="Automatic reports icon" descr="Automatic reports icon"/>
          <p:cNvPicPr/>
          <p:nvPr/>
        </p:nvPicPr>
        <p:blipFill>
          <a:blip r:embed="rId6"/>
          <a:stretch/>
        </p:blipFill>
        <p:spPr>
          <a:xfrm>
            <a:off x="5029200" y="35845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Future title 4"/>
          <p:cNvSpPr/>
          <p:nvPr/>
        </p:nvSpPr>
        <p:spPr>
          <a:xfrm>
            <a:off x="5669280" y="3246120"/>
            <a:ext cx="2880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Notifications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Future text 4"/>
          <p:cNvSpPr/>
          <p:nvPr/>
        </p:nvSpPr>
        <p:spPr>
          <a:xfrm>
            <a:off x="5669280" y="367596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Add reminders and export reports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 type="sldNum" idx="17"/>
          </p:nvPr>
        </p:nvSpPr>
        <p:spPr>
          <a:xfrm>
            <a:off x="822960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86E63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rgbClr val="586E63"/>
                </a:solidFill>
                <a:effectLst/>
                <a:uFillTx/>
                <a:latin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Conclusion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9" name="Conclusion text"/>
          <p:cNvSpPr/>
          <p:nvPr/>
        </p:nvSpPr>
        <p:spPr>
          <a:xfrm>
            <a:off x="457200" y="1371600"/>
            <a:ext cx="393156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bg1"/>
                </a:solidFill>
                <a:effectLst/>
                <a:uFillTx/>
                <a:latin typeface="Calibri"/>
              </a:rPr>
              <a:t>The To-Do List Management System shows how Linux Bash can solve an everyday problem. It combines menus, functions, conditions and file handling to add, display, complete and delete tasks.</a:t>
            </a:r>
            <a:endParaRPr lang="en-US" sz="16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370" name="Outcomes heading"/>
          <p:cNvSpPr/>
          <p:nvPr/>
        </p:nvSpPr>
        <p:spPr>
          <a:xfrm>
            <a:off x="4846320" y="13716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uFillTx/>
                <a:latin typeface="Calibri"/>
              </a:rPr>
              <a:t>Learning outcomes</a:t>
            </a:r>
            <a:endParaRPr lang="en-US" sz="1800" b="0" u="none" strike="noStrike" dirty="0">
              <a:solidFill>
                <a:schemeClr val="accent4">
                  <a:lumMod val="20000"/>
                  <a:lumOff val="8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371" name="Outcome pill 1"/>
          <p:cNvSpPr/>
          <p:nvPr/>
        </p:nvSpPr>
        <p:spPr>
          <a:xfrm>
            <a:off x="4846320" y="1828800"/>
            <a:ext cx="1874160" cy="4201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2" name="Outcome text 1"/>
          <p:cNvSpPr/>
          <p:nvPr/>
        </p:nvSpPr>
        <p:spPr>
          <a:xfrm>
            <a:off x="4846320" y="1828800"/>
            <a:ext cx="1874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bg2"/>
                </a:solidFill>
                <a:effectLst/>
                <a:uFillTx/>
                <a:latin typeface="Calibri"/>
              </a:rPr>
              <a:t>Navigate directories</a:t>
            </a:r>
            <a:endParaRPr lang="en-US" sz="1400" b="0" u="none" strike="noStrike" dirty="0">
              <a:solidFill>
                <a:schemeClr val="bg2"/>
              </a:solidFill>
              <a:effectLst/>
              <a:uFillTx/>
              <a:latin typeface="Arial"/>
            </a:endParaRPr>
          </a:p>
        </p:txBody>
      </p:sp>
      <p:sp>
        <p:nvSpPr>
          <p:cNvPr id="373" name="Outcome pill 2"/>
          <p:cNvSpPr/>
          <p:nvPr/>
        </p:nvSpPr>
        <p:spPr>
          <a:xfrm>
            <a:off x="6812280" y="1842840"/>
            <a:ext cx="1874160" cy="4201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4" name="Outcome text 2"/>
          <p:cNvSpPr/>
          <p:nvPr/>
        </p:nvSpPr>
        <p:spPr>
          <a:xfrm>
            <a:off x="6812280" y="1828800"/>
            <a:ext cx="1874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 err="1">
                <a:solidFill>
                  <a:schemeClr val="bg2"/>
                </a:solidFill>
                <a:effectLst/>
                <a:uFillTx/>
                <a:latin typeface="Calibri"/>
              </a:rPr>
              <a:t>chmod</a:t>
            </a:r>
            <a:r>
              <a:rPr lang="en-US" sz="1400" b="0" u="none" strike="noStrike" dirty="0">
                <a:solidFill>
                  <a:schemeClr val="bg2"/>
                </a:solidFill>
                <a:effectLst/>
                <a:uFillTx/>
                <a:latin typeface="Calibri"/>
              </a:rPr>
              <a:t> permissions</a:t>
            </a:r>
            <a:endParaRPr lang="en-US" sz="1400" b="0" u="none" strike="noStrike" dirty="0">
              <a:solidFill>
                <a:schemeClr val="bg2"/>
              </a:solidFill>
              <a:effectLst/>
              <a:uFillTx/>
              <a:latin typeface="Arial"/>
            </a:endParaRPr>
          </a:p>
        </p:txBody>
      </p:sp>
      <p:sp>
        <p:nvSpPr>
          <p:cNvPr id="375" name="Outcome pill 3"/>
          <p:cNvSpPr/>
          <p:nvPr/>
        </p:nvSpPr>
        <p:spPr>
          <a:xfrm>
            <a:off x="4846320" y="2377440"/>
            <a:ext cx="1874160" cy="4201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6" name="Outcome text 3"/>
          <p:cNvSpPr/>
          <p:nvPr/>
        </p:nvSpPr>
        <p:spPr>
          <a:xfrm>
            <a:off x="4846320" y="2377440"/>
            <a:ext cx="1874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bg2"/>
                </a:solidFill>
                <a:effectLst/>
                <a:uFillTx/>
                <a:latin typeface="Calibri"/>
              </a:rPr>
              <a:t>Variables and input</a:t>
            </a:r>
            <a:endParaRPr lang="en-US" sz="1400" b="0" u="none" strike="noStrike" dirty="0">
              <a:solidFill>
                <a:schemeClr val="bg2"/>
              </a:solidFill>
              <a:effectLst/>
              <a:uFillTx/>
              <a:latin typeface="Arial"/>
            </a:endParaRPr>
          </a:p>
        </p:txBody>
      </p:sp>
      <p:sp>
        <p:nvSpPr>
          <p:cNvPr id="377" name="Outcome pill 4"/>
          <p:cNvSpPr/>
          <p:nvPr/>
        </p:nvSpPr>
        <p:spPr>
          <a:xfrm>
            <a:off x="6812280" y="2377440"/>
            <a:ext cx="1874160" cy="4201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8" name="Outcome text 4"/>
          <p:cNvSpPr/>
          <p:nvPr/>
        </p:nvSpPr>
        <p:spPr>
          <a:xfrm>
            <a:off x="6812280" y="2377440"/>
            <a:ext cx="1874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bg2"/>
                </a:solidFill>
                <a:effectLst/>
                <a:uFillTx/>
                <a:latin typeface="Calibri"/>
              </a:rPr>
              <a:t>File handling</a:t>
            </a:r>
            <a:endParaRPr lang="en-US" sz="1400" b="0" u="none" strike="noStrike" dirty="0">
              <a:solidFill>
                <a:schemeClr val="bg2"/>
              </a:solidFill>
              <a:effectLst/>
              <a:uFillTx/>
              <a:latin typeface="Arial"/>
            </a:endParaRPr>
          </a:p>
        </p:txBody>
      </p:sp>
      <p:sp>
        <p:nvSpPr>
          <p:cNvPr id="379" name="Outcome pill 5"/>
          <p:cNvSpPr/>
          <p:nvPr/>
        </p:nvSpPr>
        <p:spPr>
          <a:xfrm>
            <a:off x="4846320" y="2926080"/>
            <a:ext cx="1874160" cy="4201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0" name="Outcome text 5"/>
          <p:cNvSpPr/>
          <p:nvPr/>
        </p:nvSpPr>
        <p:spPr>
          <a:xfrm>
            <a:off x="4846320" y="2926080"/>
            <a:ext cx="1874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bg2"/>
                </a:solidFill>
                <a:effectLst/>
                <a:uFillTx/>
                <a:latin typeface="Calibri"/>
              </a:rPr>
              <a:t>case / if logic</a:t>
            </a:r>
            <a:endParaRPr lang="en-US" sz="1400" b="0" u="none" strike="noStrike" dirty="0">
              <a:solidFill>
                <a:schemeClr val="bg2"/>
              </a:solidFill>
              <a:effectLst/>
              <a:uFillTx/>
              <a:latin typeface="Arial"/>
            </a:endParaRPr>
          </a:p>
        </p:txBody>
      </p:sp>
      <p:sp>
        <p:nvSpPr>
          <p:cNvPr id="381" name="Outcome pill 6"/>
          <p:cNvSpPr/>
          <p:nvPr/>
        </p:nvSpPr>
        <p:spPr>
          <a:xfrm>
            <a:off x="6812280" y="2926080"/>
            <a:ext cx="1874160" cy="4201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2" name="Outcome text 6"/>
          <p:cNvSpPr/>
          <p:nvPr/>
        </p:nvSpPr>
        <p:spPr>
          <a:xfrm>
            <a:off x="6812280" y="2926080"/>
            <a:ext cx="1874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bg2"/>
                </a:solidFill>
                <a:effectLst/>
                <a:uFillTx/>
                <a:latin typeface="Calibri"/>
              </a:rPr>
              <a:t>Functions</a:t>
            </a:r>
            <a:endParaRPr lang="en-US" sz="1400" b="0" u="none" strike="noStrike" dirty="0">
              <a:solidFill>
                <a:schemeClr val="bg2"/>
              </a:solidFill>
              <a:effectLst/>
              <a:uFillTx/>
              <a:latin typeface="Arial"/>
            </a:endParaRPr>
          </a:p>
        </p:txBody>
      </p:sp>
      <p:sp>
        <p:nvSpPr>
          <p:cNvPr id="383" name="Outcome pill 7"/>
          <p:cNvSpPr/>
          <p:nvPr/>
        </p:nvSpPr>
        <p:spPr>
          <a:xfrm>
            <a:off x="4846320" y="3474720"/>
            <a:ext cx="1874160" cy="4201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4" name="Outcome text 7"/>
          <p:cNvSpPr/>
          <p:nvPr/>
        </p:nvSpPr>
        <p:spPr>
          <a:xfrm>
            <a:off x="4846320" y="3474720"/>
            <a:ext cx="1874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bg2"/>
                </a:solidFill>
                <a:effectLst/>
                <a:uFillTx/>
                <a:latin typeface="Calibri"/>
              </a:rPr>
              <a:t>Testing and debugging</a:t>
            </a:r>
            <a:endParaRPr lang="en-US" sz="1400" b="0" u="none" strike="noStrike" dirty="0">
              <a:solidFill>
                <a:schemeClr val="bg2"/>
              </a:solidFill>
              <a:effectLst/>
              <a:uFillTx/>
              <a:latin typeface="Arial"/>
            </a:endParaRPr>
          </a:p>
        </p:txBody>
      </p:sp>
      <p:sp>
        <p:nvSpPr>
          <p:cNvPr id="385" name="Outcome pill 8"/>
          <p:cNvSpPr/>
          <p:nvPr/>
        </p:nvSpPr>
        <p:spPr>
          <a:xfrm>
            <a:off x="6812280" y="3474720"/>
            <a:ext cx="1874160" cy="4201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6" name="Outcome text 8"/>
          <p:cNvSpPr/>
          <p:nvPr/>
        </p:nvSpPr>
        <p:spPr>
          <a:xfrm>
            <a:off x="6812280" y="3474720"/>
            <a:ext cx="1874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Test and debug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Closing line"/>
          <p:cNvSpPr/>
          <p:nvPr/>
        </p:nvSpPr>
        <p:spPr>
          <a:xfrm>
            <a:off x="374822" y="28162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bg1"/>
                </a:solidFill>
                <a:effectLst/>
                <a:uFillTx/>
                <a:latin typeface="Calibri"/>
              </a:rPr>
              <a:t>Thank you  </a:t>
            </a:r>
            <a:endParaRPr lang="en-US" sz="24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 type="sldNum" idx="18"/>
          </p:nvPr>
        </p:nvSpPr>
        <p:spPr>
          <a:xfrm>
            <a:off x="822960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86E63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rgbClr val="586E63"/>
                </a:solidFill>
                <a:effectLst/>
                <a:uFillTx/>
                <a:latin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ux Terminal">
  <a:themeElements>
    <a:clrScheme name="Linux Terminal">
      <a:dk1>
        <a:srgbClr val="0B130F"/>
      </a:dk1>
      <a:lt1>
        <a:srgbClr val="FFFFFF"/>
      </a:lt1>
      <a:dk2>
        <a:srgbClr val="16291F"/>
      </a:dk2>
      <a:lt2>
        <a:srgbClr val="EAF3EC"/>
      </a:lt2>
      <a:accent1>
        <a:srgbClr val="1A7A42"/>
      </a:accent1>
      <a:accent2>
        <a:srgbClr val="3DDC84"/>
      </a:accent2>
      <a:accent3>
        <a:srgbClr val="F5B301"/>
      </a:accent3>
      <a:accent4>
        <a:srgbClr val="C03A3A"/>
      </a:accent4>
      <a:accent5>
        <a:srgbClr val="2F6F8F"/>
      </a:accent5>
      <a:accent6>
        <a:srgbClr val="5C6F66"/>
      </a:accent6>
      <a:hlink>
        <a:srgbClr val="1A7A42"/>
      </a:hlink>
      <a:folHlink>
        <a:srgbClr val="5C6F66"/>
      </a:folHlink>
    </a:clrScheme>
    <a:fontScheme name="Linux Terminal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</TotalTime>
  <Words>2147</Words>
  <Application>Microsoft Office PowerPoint</Application>
  <PresentationFormat>On-screen Show (16:9)</PresentationFormat>
  <Paragraphs>359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Cambria</vt:lpstr>
      <vt:lpstr>Courier New</vt:lpstr>
      <vt:lpstr>Georgia</vt:lpstr>
      <vt:lpstr>Symbol</vt:lpstr>
      <vt:lpstr>Times New Roman</vt:lpstr>
      <vt:lpstr>Wingdings</vt:lpstr>
      <vt:lpstr>Linux Terminal</vt:lpstr>
      <vt:lpstr>PowerPoint Presentation</vt:lpstr>
      <vt:lpstr>To-Do List Management System</vt:lpstr>
      <vt:lpstr>The Problem</vt:lpstr>
      <vt:lpstr>Objectives</vt:lpstr>
      <vt:lpstr>Scope &amp; Requirements</vt:lpstr>
      <vt:lpstr>Existing vs Proposed System</vt:lpstr>
      <vt:lpstr>Program Workflow</vt:lpstr>
      <vt:lpstr>System Design</vt:lpstr>
      <vt:lpstr>Task Status Criteria</vt:lpstr>
      <vt:lpstr>Implementation Steps</vt:lpstr>
      <vt:lpstr>Key Source Code</vt:lpstr>
      <vt:lpstr>Sample Execution</vt:lpstr>
      <vt:lpstr>Testing</vt:lpstr>
      <vt:lpstr>Project Modules</vt:lpstr>
      <vt:lpstr>Advantages &amp; Limitations</vt:lpstr>
      <vt:lpstr>Future Enhancements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Sneha Yadav</cp:lastModifiedBy>
  <cp:revision>4</cp:revision>
  <dcterms:modified xsi:type="dcterms:W3CDTF">2026-10-13T06:24:09Z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2026-10-09T09:14:34Z</dcterms:created>
  <dc:creator>Student Project</dc:creator>
  <dc:description/>
  <dc:language>en-US</dc:language>
  <cp:lastModifiedBy>PptxGenJS</cp:lastModifiedBy>
  <dcterms:modified xsi:type="dcterms:W3CDTF">2026-10-09T09:14:34Z</dcterms:modified>
  <cp:revision>1</cp:revision>
  <dc:subject>Linux Bash mini project presentation</dc:subject>
  <dc:title>To-Do List Management System - Linux Bash Project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16</vt:r8>
  </property>
  <property fmtid="{D5CDD505-2E9C-101B-9397-08002B2CF9AE}" pid="3" name="PresentationFormat">
    <vt:lpwstr>On-screen Show (16:9)</vt:lpwstr>
  </property>
  <property fmtid="{D5CDD505-2E9C-101B-9397-08002B2CF9AE}" pid="4" name="Slides">
    <vt:r8>16</vt:r8>
  </property>
</Properties>
</file>